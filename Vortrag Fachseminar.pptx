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4" r:id="rId3"/>
    <p:sldId id="338" r:id="rId4"/>
    <p:sldId id="320" r:id="rId5"/>
    <p:sldId id="339" r:id="rId6"/>
    <p:sldId id="321" r:id="rId7"/>
    <p:sldId id="355" r:id="rId8"/>
    <p:sldId id="340" r:id="rId9"/>
    <p:sldId id="342" r:id="rId10"/>
    <p:sldId id="341" r:id="rId11"/>
    <p:sldId id="332" r:id="rId12"/>
    <p:sldId id="333" r:id="rId13"/>
    <p:sldId id="334" r:id="rId14"/>
    <p:sldId id="354" r:id="rId15"/>
    <p:sldId id="335" r:id="rId16"/>
    <p:sldId id="336" r:id="rId17"/>
    <p:sldId id="337" r:id="rId18"/>
    <p:sldId id="306" r:id="rId19"/>
    <p:sldId id="343" r:id="rId20"/>
    <p:sldId id="344" r:id="rId21"/>
    <p:sldId id="346" r:id="rId22"/>
    <p:sldId id="345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44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C3644-25D8-4871-93A8-F31DA460785B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F7A68-AB40-4225-956B-FCB71A2FDA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894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04A9EE-6A5C-A4F9-DF29-86DB2B2B0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CE40BE-57F6-AEE3-F857-3DA0827A2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7BCF5-5532-3185-7D24-18FDDBD95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F25812-FABA-1394-C8CD-33A17739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1C03EC-B395-E395-996A-B1350F90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082" y="6356349"/>
            <a:ext cx="549835" cy="365125"/>
          </a:xfrm>
        </p:spPr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22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0AE90-EA48-0218-6ED4-B7EE2A66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91C510-7D52-0EF6-9C26-6585B098F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E16302-2EEF-316E-EB19-E21C0D69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1B6A6-0BF4-3CEC-FD4F-3BF72086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EFF05F-6BFE-94A0-41FD-BD820E5E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38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A897A-31D6-A10B-3B48-6B2441B5A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0B2182-3300-5344-CABE-02874B57D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433FF8-E433-370E-986C-4806876C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317DDF-6C50-C4ED-F430-A5DB40C4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6473FC-5ECE-9B71-18E9-B3D9FFAD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42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909BC3-9FB1-3EFD-19F3-BA60FD60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2B300D-3EF2-A341-0F16-7905672B2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3B0788-7467-E756-4B6D-ADD13B205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CB7965-7E56-656D-5003-12DF025E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93F52E-04B5-12AB-F3A6-481D14A6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EDE022-4BEF-5F45-4D37-72B9E4CD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93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3EA12-7514-6416-9494-C6F3FD09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47022B-75A6-CCCB-0215-654A031A5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D498E9-CD85-CC0E-D93C-00DEB7067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AA8D9A-E124-EDB0-F30F-2F4F9611B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1AD9684-B985-5467-6ED0-844DDAE95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F48107-4F37-2A3C-45FF-3AEAEBCC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1DAB571-FD2B-753A-AB94-99F26F07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2174B4-DA26-97B4-911A-1ACB1386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44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AB4665-3DC0-2989-8643-5BEDE71B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55AB03-308F-6AE8-56B6-D9CCFC39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E76FE0-64DF-C20C-6984-EC0214CA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1B2E0C-B3E8-5BBE-D7EE-D2208FDE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040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2BEBDA-AAFC-67A6-F6AE-0A50FD15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3D2199-2F2C-AB59-C9CA-36D54046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A44891-9DBD-CCCE-C083-A20BD5A2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27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89E30-8622-08EC-5320-2D305C6D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C5F6C4-98EC-F9F1-CE4C-0248DAD2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5683E7-BBE2-E1E2-B34A-C854F29DE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B22B6A-A1AE-4CE7-F2C1-250611F7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50107F-07FF-7990-31B5-37D9E7F6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DA5BD7-1459-6D21-2623-282F86A8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92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9B6F6-B6E7-1332-0217-06B9F1A0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7EC2484-8D8D-5E91-D189-79D69D12D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FCD5A8-E21C-7D1B-8868-CADD42F24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A76B68-3339-DF06-3202-EE40BAE5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7DEFBC-93F1-D71E-04B1-03C5AF5F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2BB918-5CB2-4E63-DD7D-46348638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01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60CA0-9104-A8E4-1810-4452322C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048CE8-CBF0-C061-6B87-16EBD4995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A6F999-BB66-B908-1366-D0B9EC37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E572DD-590C-67E3-D770-DA8F31CF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46C0F0-AAF5-C7D0-8C43-D834BA6D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56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605725-8575-2A46-96F9-0612375DA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396054-0729-C41F-695E-F38FC1F01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EE3C1E-8B2B-D162-D506-24941C94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0F64D7-0619-BCB8-D5C0-87BBE12B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750D7C-752B-5A73-D695-E06074EA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2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200439D-1B78-24FF-66F4-E031BC0CC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E802B-53FF-6383-956A-AEA1DCF55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0FE4FE-F10B-97B0-1CDB-D1A606784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20.05.2026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D31113-BD3F-6840-71A2-26381B86A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CA81EF-8CA6-902F-49EE-F90ECD008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2DAD4-8B56-4CFC-86F2-2DF0F20B40C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403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A8051C11-D947-505F-1FFB-C0CA00DF8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40718A9-F879-CC15-7EBF-2BA25A858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CA40C6BB-EDBF-D8C8-7705-29F1BA426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FFFFFF"/>
                </a:solidFill>
                <a:uFillTx/>
                <a:latin typeface="Calisto MT"/>
              </a:rPr>
              <a:t>Univers</a:t>
            </a:r>
            <a:r>
              <a:rPr lang="en-US" sz="1800" b="0" i="0" u="none" strike="noStrike" kern="1200" cap="none" spc="0" baseline="0" dirty="0">
                <a:solidFill>
                  <a:srgbClr val="FFFFFF"/>
                </a:solidFill>
                <a:uFillTx/>
                <a:latin typeface="Calisto MT"/>
              </a:rPr>
              <a:t> Condensed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88A2E8D-04AA-2574-9467-1E670ED77F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136378"/>
            <a:ext cx="6766560" cy="3134865"/>
          </a:xfrm>
        </p:spPr>
        <p:txBody>
          <a:bodyPr>
            <a:noAutofit/>
          </a:bodyPr>
          <a:lstStyle/>
          <a:p>
            <a:pPr lvl="0" algn="l"/>
            <a:r>
              <a:rPr lang="en-US" sz="3200" dirty="0">
                <a:latin typeface="Univers Condensed" panose="020B0506020202050204" pitchFamily="34" charset="0"/>
              </a:rPr>
              <a:t>The role of remote Photoplethysmography in Musical Biofeedback Systems for Stress Reduction and Consciousness Regulation</a:t>
            </a: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CB563F3D-A2F1-1AE6-F361-B62A4BDC0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76AA11AB-EC5B-7FEC-3554-BC618AE10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pic>
        <p:nvPicPr>
          <p:cNvPr id="9" name="Picture 3">
            <a:extLst>
              <a:ext uri="{FF2B5EF4-FFF2-40B4-BE49-F238E27FC236}">
                <a16:creationId xmlns:a16="http://schemas.microsoft.com/office/drawing/2014/main" id="{293641AD-FA86-3182-D819-F282DC10D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9" r="26406"/>
          <a:stretch>
            <a:fillRect/>
          </a:stretch>
        </p:blipFill>
        <p:spPr>
          <a:xfrm>
            <a:off x="8115300" y="9"/>
            <a:ext cx="4076696" cy="68579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7377D0-1D46-0948-19AD-0AE62321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</a:t>
            </a:fld>
            <a:endParaRPr lang="de-DE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B34EE5DE-6F60-BA21-C608-3CC8021B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F59973-162A-4B58-81E0-2CFB50C2231D}"/>
              </a:ext>
            </a:extLst>
          </p:cNvPr>
          <p:cNvSpPr txBox="1"/>
          <p:nvPr/>
        </p:nvSpPr>
        <p:spPr>
          <a:xfrm>
            <a:off x="4521198" y="4413250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Fabian Winkelmann</a:t>
            </a:r>
          </a:p>
          <a:p>
            <a:r>
              <a:rPr lang="de-DE" dirty="0"/>
              <a:t>Student ID: 1284247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F3E2-54A5-F489-018D-3722C007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0FDF5138-A387-00E7-7201-E8A7BB9F2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E429836A-65F0-4D6C-B769-AA4B2BD5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C08C45E2-44D2-AA9C-C93C-95131457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FFFFFF"/>
                </a:solidFill>
                <a:uFillTx/>
                <a:latin typeface="Calisto MT"/>
              </a:rPr>
              <a:t>Univers</a:t>
            </a:r>
            <a:r>
              <a:rPr lang="en-US" sz="1800" b="0" i="0" u="none" strike="noStrike" kern="1200" cap="none" spc="0" baseline="0" dirty="0">
                <a:solidFill>
                  <a:srgbClr val="FFFFFF"/>
                </a:solidFill>
                <a:uFillTx/>
                <a:latin typeface="Calisto MT"/>
              </a:rPr>
              <a:t> Condensed</a:t>
            </a: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3A78007A-02F8-BD65-E3B9-A360B0CC9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A298F603-5651-59E6-6310-F0565DE8E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F6FBAB14-CDB9-5F4D-7219-33B2C1AB19AB}"/>
              </a:ext>
            </a:extLst>
          </p:cNvPr>
          <p:cNvSpPr txBox="1"/>
          <p:nvPr/>
        </p:nvSpPr>
        <p:spPr>
          <a:xfrm>
            <a:off x="800100" y="1809512"/>
            <a:ext cx="85776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000" dirty="0" err="1"/>
              <a:t>Introduction</a:t>
            </a:r>
            <a:endParaRPr lang="de-DE" sz="2000" dirty="0"/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Stress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Remote </a:t>
            </a:r>
            <a:r>
              <a:rPr lang="de-DE" sz="2000" dirty="0" err="1"/>
              <a:t>Photoplethysmography</a:t>
            </a:r>
            <a:endParaRPr lang="de-DE" sz="2000" dirty="0"/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Musical Biofeedback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Regeneration and Consciousness Regulation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Case Studies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 err="1"/>
              <a:t>Conclusion</a:t>
            </a:r>
            <a:endParaRPr lang="de-DE" sz="2000" dirty="0"/>
          </a:p>
          <a:p>
            <a:endParaRPr lang="de-DE" sz="2000" dirty="0"/>
          </a:p>
          <a:p>
            <a:pPr marL="342900" indent="-342900">
              <a:buFont typeface="+mj-lt"/>
              <a:buAutoNum type="arabicPeriod"/>
            </a:pPr>
            <a:endParaRPr lang="de-DE" sz="2000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38D268A-2913-259B-7C2C-48D7B9F8708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906552"/>
            <a:ext cx="6766560" cy="541246"/>
          </a:xfrm>
        </p:spPr>
        <p:txBody>
          <a:bodyPr>
            <a:noAutofit/>
          </a:bodyPr>
          <a:lstStyle/>
          <a:p>
            <a:pPr lvl="0" algn="l">
              <a:lnSpc>
                <a:spcPct val="90000"/>
              </a:lnSpc>
            </a:pPr>
            <a:br>
              <a:rPr lang="en-US" sz="2400" dirty="0">
                <a:latin typeface="Univers Condensed" panose="020B0506020202050204" pitchFamily="34" charset="0"/>
              </a:rPr>
            </a:br>
            <a:r>
              <a:rPr lang="en-US" sz="2400" dirty="0">
                <a:latin typeface="Univers Condensed" panose="020B0506020202050204" pitchFamily="34" charset="0"/>
              </a:rPr>
              <a:t>Structure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72708D9-C691-9C57-BB25-34080BB3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9" r="26406"/>
          <a:stretch>
            <a:fillRect/>
          </a:stretch>
        </p:blipFill>
        <p:spPr>
          <a:xfrm>
            <a:off x="8115300" y="9"/>
            <a:ext cx="4076696" cy="68579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2E0E87-511A-7803-6292-E8F24FA4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2</a:t>
            </a:fld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89C3818-F209-7CDA-D2E7-EC4E300E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</p:spTree>
    <p:extLst>
      <p:ext uri="{BB962C8B-B14F-4D97-AF65-F5344CB8AC3E}">
        <p14:creationId xmlns:p14="http://schemas.microsoft.com/office/powerpoint/2010/main" val="307448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A344-79C1-5C5B-E03D-34A1923F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AAC47E76-9191-4FDD-A83E-4F9422B39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BCF7F4C3-2864-8310-4089-598ACD3FF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3655CEFE-2727-F51E-A6E0-D5361C5A5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4D21F371-F1A3-2D66-BD0D-224984F42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6DAEAF7-A872-3BDF-4F5F-33A1A6C91F8E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0CCBD89-32A3-B924-5A36-4B86B6F1B97A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16AFD7E-8FB8-4007-7095-09EA7EB1F69B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F57051E-DA54-F583-2ECB-AE276E55E691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C60CAC-1BB9-C39C-9C68-7E7916D5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3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DDE048-0B79-C409-7692-D084801F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42C739D-3A5F-A1A7-FBAC-351963B5BAA3}"/>
              </a:ext>
            </a:extLst>
          </p:cNvPr>
          <p:cNvSpPr txBox="1"/>
          <p:nvPr/>
        </p:nvSpPr>
        <p:spPr>
          <a:xfrm>
            <a:off x="800100" y="876475"/>
            <a:ext cx="5962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Univers Condensed" panose="020B0506020202050204" pitchFamily="34" charset="0"/>
              </a:rPr>
              <a:t>Introduction</a:t>
            </a:r>
            <a:endParaRPr lang="de-DE" sz="2400" dirty="0">
              <a:latin typeface="Univers Condensed" panose="020B050602020205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4F520A-BDDF-8437-219F-DF3A98D5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008" y="834969"/>
            <a:ext cx="3903044" cy="552138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48048FB-A2A5-7545-9B2E-E63CB59947D5}"/>
              </a:ext>
            </a:extLst>
          </p:cNvPr>
          <p:cNvSpPr txBox="1"/>
          <p:nvPr/>
        </p:nvSpPr>
        <p:spPr>
          <a:xfrm>
            <a:off x="927100" y="1504950"/>
            <a:ext cx="67246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Stress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heart</a:t>
            </a:r>
            <a:r>
              <a:rPr lang="de-DE" dirty="0"/>
              <a:t> rate</a:t>
            </a:r>
            <a:r>
              <a:rPr lang="de-DE" baseline="30000" dirty="0"/>
              <a:t>1</a:t>
            </a:r>
            <a:r>
              <a:rPr lang="de-DE" dirty="0"/>
              <a:t> 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Plethysmography</a:t>
            </a:r>
            <a:r>
              <a:rPr lang="de-DE" dirty="0"/>
              <a:t>: Measurement </a:t>
            </a:r>
            <a:r>
              <a:rPr lang="de-DE" dirty="0" err="1"/>
              <a:t>of</a:t>
            </a:r>
            <a:r>
              <a:rPr lang="de-DE" dirty="0"/>
              <a:t> pulse waves</a:t>
            </a:r>
            <a:r>
              <a:rPr lang="de-DE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Photoplethysmography (PPG): ... using light reflectance</a:t>
            </a:r>
            <a:r>
              <a:rPr lang="en-US" baseline="30000" dirty="0"/>
              <a:t>2</a:t>
            </a:r>
            <a:endParaRPr lang="de-DE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PPG (</a:t>
            </a:r>
            <a:r>
              <a:rPr lang="en-US" dirty="0" err="1"/>
              <a:t>rPPG</a:t>
            </a:r>
            <a:r>
              <a:rPr lang="en-US" dirty="0"/>
              <a:t>): … via digital camera (contactless)</a:t>
            </a:r>
            <a:r>
              <a:rPr lang="en-US" baseline="30000" dirty="0"/>
              <a:t>2 </a:t>
            </a:r>
          </a:p>
          <a:p>
            <a:pPr lvl="2"/>
            <a:r>
              <a:rPr lang="de-DE" b="1" dirty="0"/>
              <a:t>						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Biofeedback: </a:t>
            </a:r>
            <a:r>
              <a:rPr lang="en-US" dirty="0"/>
              <a:t>Real-time loop returning physiological data</a:t>
            </a:r>
            <a:r>
              <a:rPr lang="en-US" baseline="30000" dirty="0"/>
              <a:t>3</a:t>
            </a:r>
            <a:endParaRPr lang="de-DE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Musical Biofeedback: </a:t>
            </a:r>
            <a:r>
              <a:rPr lang="en-US" dirty="0"/>
              <a:t>Auditory feedback loop using music</a:t>
            </a:r>
            <a:r>
              <a:rPr lang="en-US" baseline="30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aseline="30000" dirty="0"/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D2CC1B-D4C7-6EAF-7E5B-DAFBC7D715F2}"/>
              </a:ext>
            </a:extLst>
          </p:cNvPr>
          <p:cNvSpPr txBox="1"/>
          <p:nvPr/>
        </p:nvSpPr>
        <p:spPr>
          <a:xfrm>
            <a:off x="8470900" y="5994508"/>
            <a:ext cx="3231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Musical Biofeedback Loop: Real-time </a:t>
            </a:r>
            <a:r>
              <a:rPr lang="de-DE" sz="1400" dirty="0" err="1"/>
              <a:t>translation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physiological</a:t>
            </a:r>
            <a:r>
              <a:rPr lang="de-DE" sz="1400" dirty="0"/>
              <a:t> </a:t>
            </a:r>
            <a:r>
              <a:rPr lang="de-DE" sz="1400" dirty="0" err="1"/>
              <a:t>rPPG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 </a:t>
            </a:r>
            <a:r>
              <a:rPr lang="de-DE" sz="1400" dirty="0" err="1"/>
              <a:t>into</a:t>
            </a:r>
            <a:r>
              <a:rPr lang="de-DE" sz="1400" dirty="0"/>
              <a:t> intuitive </a:t>
            </a:r>
            <a:r>
              <a:rPr lang="de-DE" sz="1400" dirty="0" err="1"/>
              <a:t>musical</a:t>
            </a:r>
            <a:r>
              <a:rPr lang="de-DE" sz="1400" dirty="0"/>
              <a:t> </a:t>
            </a:r>
            <a:r>
              <a:rPr lang="de-DE" sz="1400" dirty="0" err="1"/>
              <a:t>biofeedback</a:t>
            </a:r>
            <a:endParaRPr lang="de-DE" sz="1400" dirty="0"/>
          </a:p>
          <a:p>
            <a:r>
              <a:rPr lang="de-DE" sz="1400" dirty="0"/>
              <a:t>Source: Own </a:t>
            </a:r>
            <a:r>
              <a:rPr lang="de-DE" sz="1400" dirty="0" err="1"/>
              <a:t>illustration</a:t>
            </a:r>
            <a:endParaRPr lang="de-DE" sz="1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C410C0C-9292-CB29-7813-94B5C1798DD9}"/>
              </a:ext>
            </a:extLst>
          </p:cNvPr>
          <p:cNvSpPr txBox="1"/>
          <p:nvPr/>
        </p:nvSpPr>
        <p:spPr>
          <a:xfrm>
            <a:off x="914400" y="5679924"/>
            <a:ext cx="701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Mcewen2017neurobiology, [2] cf. verkruysse2008remote, [3] cf. giggins2013biofeedback   </a:t>
            </a:r>
            <a:r>
              <a:rPr lang="de-DE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72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A3B9-4B32-33FB-B5DC-DDA7A219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1B4EB139-E29F-43E8-9B8E-77A40B656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109543F-ED30-205B-56EE-94405E5C2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7633B9C9-B83B-2DD5-C570-656F54FE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25C13C4-4395-20E1-BE98-3AA2743BF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B2DA5A7-9CB1-9863-4F1F-AB07872E3CD7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BCAE701-DE53-F8E7-6BBF-EE7F9412FE5B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E8F0AD7-2C7A-117A-9247-5C15A23DBC55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15E5424-7497-1D75-648E-1C5C8EEE6F49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0CF2FA-FF4D-6809-47F8-EF354DE3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4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94FFDE-BB2A-2F41-AC43-15EE41B2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5F8F32C-B399-0757-5AD1-FC82260FF886}"/>
              </a:ext>
            </a:extLst>
          </p:cNvPr>
          <p:cNvSpPr txBox="1"/>
          <p:nvPr/>
        </p:nvSpPr>
        <p:spPr>
          <a:xfrm>
            <a:off x="800100" y="895525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Stress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20A7D59-2DC1-FA43-65FF-CAAC0CE3BCA1}"/>
              </a:ext>
            </a:extLst>
          </p:cNvPr>
          <p:cNvSpPr txBox="1"/>
          <p:nvPr/>
        </p:nvSpPr>
        <p:spPr>
          <a:xfrm>
            <a:off x="946150" y="1569002"/>
            <a:ext cx="608412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Protective</a:t>
            </a:r>
            <a:r>
              <a:rPr lang="de-DE" dirty="0"/>
              <a:t> Response: Short-term </a:t>
            </a:r>
            <a:r>
              <a:rPr lang="de-DE" dirty="0" err="1"/>
              <a:t>mobilization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vital </a:t>
            </a:r>
            <a:r>
              <a:rPr lang="de-DE" dirty="0" err="1"/>
              <a:t>survival</a:t>
            </a:r>
            <a:r>
              <a:rPr lang="de-DE" dirty="0"/>
              <a:t> mechanism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Maladaptive Coping: </a:t>
            </a:r>
            <a:r>
              <a:rPr lang="de-DE" dirty="0" err="1"/>
              <a:t>Harmless</a:t>
            </a:r>
            <a:r>
              <a:rPr lang="de-DE" dirty="0"/>
              <a:t> </a:t>
            </a:r>
            <a:r>
              <a:rPr lang="de-DE" dirty="0" err="1"/>
              <a:t>situations</a:t>
            </a:r>
            <a:r>
              <a:rPr lang="de-DE" dirty="0"/>
              <a:t> </a:t>
            </a:r>
            <a:r>
              <a:rPr lang="de-DE" dirty="0" err="1"/>
              <a:t>trigger</a:t>
            </a:r>
            <a:r>
              <a:rPr lang="de-DE" dirty="0"/>
              <a:t> stress, </a:t>
            </a:r>
            <a:r>
              <a:rPr lang="de-DE" dirty="0" err="1"/>
              <a:t>leading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harmful</a:t>
            </a:r>
            <a:r>
              <a:rPr lang="de-DE" dirty="0"/>
              <a:t> </a:t>
            </a:r>
            <a:r>
              <a:rPr lang="de-DE" dirty="0" err="1"/>
              <a:t>habits</a:t>
            </a:r>
            <a:r>
              <a:rPr lang="de-DE" dirty="0"/>
              <a:t> (</a:t>
            </a:r>
            <a:r>
              <a:rPr lang="de-DE" dirty="0" err="1"/>
              <a:t>smoking</a:t>
            </a:r>
            <a:r>
              <a:rPr lang="de-DE" dirty="0"/>
              <a:t>, </a:t>
            </a:r>
            <a:r>
              <a:rPr lang="de-DE" dirty="0" err="1"/>
              <a:t>drinking</a:t>
            </a:r>
            <a:r>
              <a:rPr lang="de-DE" dirty="0"/>
              <a:t>)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Heart Rate (HR): Beats per minute – represents the quantity of heart activity</a:t>
            </a:r>
            <a:r>
              <a:rPr lang="en-US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Heart Rate Variability (HRV): Time variation between consecutive beats – represents the quality of heart activity</a:t>
            </a:r>
            <a:r>
              <a:rPr lang="en-US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045A9CC-E40C-C09B-01B9-23869B52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650" y="895525"/>
            <a:ext cx="5418240" cy="227678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16DF5E9-3416-E308-B3FD-F0927429C238}"/>
              </a:ext>
            </a:extLst>
          </p:cNvPr>
          <p:cNvSpPr txBox="1"/>
          <p:nvPr/>
        </p:nvSpPr>
        <p:spPr>
          <a:xfrm>
            <a:off x="7441096" y="3250417"/>
            <a:ext cx="451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The </a:t>
            </a:r>
            <a:r>
              <a:rPr lang="de-DE" sz="1400" dirty="0" err="1"/>
              <a:t>figure</a:t>
            </a:r>
            <a:r>
              <a:rPr lang="de-DE" sz="1400" dirty="0"/>
              <a:t> </a:t>
            </a:r>
            <a:r>
              <a:rPr lang="de-DE" sz="1400" dirty="0" err="1"/>
              <a:t>illustrates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separate </a:t>
            </a:r>
            <a:r>
              <a:rPr lang="de-DE" sz="1400" dirty="0" err="1"/>
              <a:t>components</a:t>
            </a:r>
            <a:r>
              <a:rPr lang="de-DE" sz="1400" dirty="0"/>
              <a:t> </a:t>
            </a:r>
            <a:r>
              <a:rPr lang="de-DE" sz="1400" dirty="0" err="1"/>
              <a:t>that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brain</a:t>
            </a:r>
            <a:r>
              <a:rPr lang="de-DE" sz="1400" dirty="0"/>
              <a:t> </a:t>
            </a:r>
            <a:r>
              <a:rPr lang="de-DE" sz="1400" dirty="0" err="1"/>
              <a:t>takes</a:t>
            </a:r>
            <a:r>
              <a:rPr lang="de-DE" sz="1400" dirty="0"/>
              <a:t> </a:t>
            </a:r>
            <a:r>
              <a:rPr lang="de-DE" sz="1400" dirty="0" err="1"/>
              <a:t>into</a:t>
            </a:r>
            <a:r>
              <a:rPr lang="de-DE" sz="1400" dirty="0"/>
              <a:t> </a:t>
            </a:r>
            <a:r>
              <a:rPr lang="de-DE" sz="1400" dirty="0" err="1"/>
              <a:t>account</a:t>
            </a:r>
            <a:r>
              <a:rPr lang="de-DE" sz="1400" dirty="0"/>
              <a:t> </a:t>
            </a:r>
            <a:r>
              <a:rPr lang="de-DE" sz="1400" dirty="0" err="1"/>
              <a:t>when</a:t>
            </a:r>
            <a:r>
              <a:rPr lang="de-DE" sz="1400" dirty="0"/>
              <a:t> </a:t>
            </a:r>
            <a:r>
              <a:rPr lang="de-DE" sz="1400" dirty="0" err="1"/>
              <a:t>releasing</a:t>
            </a:r>
            <a:r>
              <a:rPr lang="de-DE" sz="1400" dirty="0"/>
              <a:t> stress</a:t>
            </a:r>
            <a:r>
              <a:rPr lang="de-DE" sz="1400" baseline="30000" dirty="0"/>
              <a:t>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AF9AF26-F1F7-EB2B-3F2F-69C076030F3D}"/>
              </a:ext>
            </a:extLst>
          </p:cNvPr>
          <p:cNvSpPr txBox="1"/>
          <p:nvPr/>
        </p:nvSpPr>
        <p:spPr>
          <a:xfrm>
            <a:off x="946150" y="5759993"/>
            <a:ext cx="5923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Mcewen2017neurobiology [2] cf. shaffer2017overview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66033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FD97-A4F8-4041-CF58-9366D0A9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A5BE14EE-51FE-B120-7642-0559B32E0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3A14F8A-D6FF-FEA6-77E3-24C3C8D2B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A251BAED-BD1F-A144-E12B-71A33DC61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006A7EB4-E8A2-60EA-106F-6913AF660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20F0766E-504D-57B2-EC39-2698F8352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C1D2057-5CA8-E33A-E2D7-C101EB0FFB24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7B00767-B8BA-B173-A6A4-400891C2731B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48B1BC4-BF81-8360-1769-7120C315D64C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F61904A-4DD0-6071-214E-50A56A31D8E9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82AB80-1C31-D213-15F7-EEDFD58F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5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25C6C9-FB97-EB8A-CD6F-FBED5849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6292517-5948-8522-A501-C6A0ABB72BB4}"/>
              </a:ext>
            </a:extLst>
          </p:cNvPr>
          <p:cNvSpPr txBox="1"/>
          <p:nvPr/>
        </p:nvSpPr>
        <p:spPr>
          <a:xfrm>
            <a:off x="800100" y="845344"/>
            <a:ext cx="627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</a:t>
            </a:r>
            <a:r>
              <a:rPr lang="de-DE" sz="2400" dirty="0" err="1"/>
              <a:t>foundation</a:t>
            </a:r>
            <a:r>
              <a:rPr lang="de-DE" sz="2400" dirty="0"/>
              <a:t>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16CBAC1-0B57-E3BA-DD8D-5AE1C1E2B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43" y="3629415"/>
            <a:ext cx="6273801" cy="191643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481B184-BA76-4F3C-70F9-A1E66FCBF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633" y="449092"/>
            <a:ext cx="4454272" cy="228620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9D1AA76-A286-61B4-F59F-0EDA0DFA78F8}"/>
              </a:ext>
            </a:extLst>
          </p:cNvPr>
          <p:cNvSpPr txBox="1"/>
          <p:nvPr/>
        </p:nvSpPr>
        <p:spPr>
          <a:xfrm>
            <a:off x="838200" y="1386510"/>
            <a:ext cx="627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Absorption: Blood </a:t>
            </a:r>
            <a:r>
              <a:rPr lang="de-DE" dirty="0" err="1"/>
              <a:t>volume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modulate</a:t>
            </a:r>
            <a:r>
              <a:rPr lang="de-DE" dirty="0"/>
              <a:t> light </a:t>
            </a:r>
            <a:r>
              <a:rPr lang="de-DE" dirty="0" err="1"/>
              <a:t>absorption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beat</a:t>
            </a:r>
            <a:r>
              <a:rPr lang="de-DE" baseline="30000" dirty="0"/>
              <a:t>2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Green Channel: </a:t>
            </a:r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strongest</a:t>
            </a:r>
            <a:r>
              <a:rPr lang="de-DE" dirty="0"/>
              <a:t> signal</a:t>
            </a:r>
            <a:r>
              <a:rPr lang="de-DE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Target Areas: </a:t>
            </a:r>
            <a:r>
              <a:rPr lang="en-US" dirty="0"/>
              <a:t>Cheeks offer the highest signal-to-noise ratio: easily accessible, exposed</a:t>
            </a:r>
            <a:r>
              <a:rPr lang="en-US" baseline="30000" dirty="0"/>
              <a:t>3</a:t>
            </a:r>
            <a:endParaRPr lang="de-DE" baseline="30000" dirty="0"/>
          </a:p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5F198FF-E732-229F-7DB6-F3BF186BDE1D}"/>
              </a:ext>
            </a:extLst>
          </p:cNvPr>
          <p:cNvSpPr txBox="1"/>
          <p:nvPr/>
        </p:nvSpPr>
        <p:spPr>
          <a:xfrm>
            <a:off x="7669399" y="2673324"/>
            <a:ext cx="4337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Spectral sensitivity of the PPG signal. Green light exhibits the highest amplitude, making it the most reliable channel for non-contact heart rate monitoring.</a:t>
            </a:r>
            <a:r>
              <a:rPr lang="en-US" sz="1400" baseline="30000" dirty="0"/>
              <a:t>1</a:t>
            </a:r>
            <a:r>
              <a:rPr lang="en-US" sz="1400" dirty="0"/>
              <a:t> </a:t>
            </a:r>
            <a:endParaRPr lang="de-DE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3A7A22-390D-88B4-FE0F-F7FF05089FF6}"/>
              </a:ext>
            </a:extLst>
          </p:cNvPr>
          <p:cNvSpPr txBox="1"/>
          <p:nvPr/>
        </p:nvSpPr>
        <p:spPr>
          <a:xfrm>
            <a:off x="310873" y="5559678"/>
            <a:ext cx="3856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dehaan2013chrom, [2] verkruysse2008remote, </a:t>
            </a:r>
          </a:p>
          <a:p>
            <a:r>
              <a:rPr lang="de-DE" sz="1200" dirty="0">
                <a:solidFill>
                  <a:schemeClr val="dk1"/>
                </a:solidFill>
              </a:rPr>
              <a:t>[3] cf. lempe2013roi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7F91B81-DA98-9086-737E-61BC5BA63A5B}"/>
              </a:ext>
            </a:extLst>
          </p:cNvPr>
          <p:cNvSpPr txBox="1"/>
          <p:nvPr/>
        </p:nvSpPr>
        <p:spPr>
          <a:xfrm>
            <a:off x="6413690" y="5596743"/>
            <a:ext cx="4337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quality of the </a:t>
            </a:r>
            <a:r>
              <a:rPr lang="en-US" sz="1400" dirty="0" err="1"/>
              <a:t>rPPG</a:t>
            </a:r>
            <a:r>
              <a:rPr lang="en-US" sz="1400" dirty="0"/>
              <a:t> signal in the face. Blue shows low activity and red high activity</a:t>
            </a:r>
            <a:r>
              <a:rPr lang="en-US" sz="1400" baseline="30000" dirty="0"/>
              <a:t>3</a:t>
            </a:r>
            <a:endParaRPr lang="de-DE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321021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2F92-C39E-4524-B0A1-5BB0C3FE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3549EB1F-1F5A-87B2-9D6D-DDF59CFF8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9DFD9F5-BB49-2166-3964-81E244611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A66EBFC0-94EB-3117-8BEB-D2AC40578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0022627D-78D6-3ED3-1AD1-D4DBE2873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1F29B7-29B7-8367-FE1F-E23E10865A2A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DE7A655-558D-339E-3757-7CAC9218071F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CF3F1F9-86AE-6A7C-9551-14C39D74584F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FE41DF1-8B05-2F4F-0C4D-FB8002E140C8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A599F6-2815-7473-5CEC-D9568A16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6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E86FE4E-DC6A-FBFC-76E8-726D014D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6AB36B3-19F3-A6EB-56C4-5A8603576D3C}"/>
              </a:ext>
            </a:extLst>
          </p:cNvPr>
          <p:cNvSpPr txBox="1"/>
          <p:nvPr/>
        </p:nvSpPr>
        <p:spPr>
          <a:xfrm>
            <a:off x="800100" y="923028"/>
            <a:ext cx="812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(Signal </a:t>
            </a:r>
            <a:r>
              <a:rPr lang="de-DE" sz="2400" dirty="0" err="1"/>
              <a:t>extraction</a:t>
            </a:r>
            <a:r>
              <a:rPr lang="de-DE" sz="2400" dirty="0"/>
              <a:t> </a:t>
            </a:r>
            <a:r>
              <a:rPr lang="de-DE" sz="2400" dirty="0" err="1"/>
              <a:t>overview</a:t>
            </a:r>
            <a:r>
              <a:rPr lang="de-DE" sz="2400" dirty="0"/>
              <a:t>)</a:t>
            </a:r>
          </a:p>
          <a:p>
            <a:endParaRPr lang="de-DE" sz="2400" dirty="0">
              <a:latin typeface="Univers Condensed" panose="020B050602020205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36273B1-CBE2-2C0A-4A20-5185CC5CDEF6}"/>
              </a:ext>
            </a:extLst>
          </p:cNvPr>
          <p:cNvSpPr txBox="1"/>
          <p:nvPr/>
        </p:nvSpPr>
        <p:spPr>
          <a:xfrm>
            <a:off x="978590" y="5792702"/>
            <a:ext cx="4742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poh2010non, [2] cf. dehaan2013chrom [3] cf. Debnath25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2EEC504-AAF8-4B97-AEB7-66B74426D798}"/>
              </a:ext>
            </a:extLst>
          </p:cNvPr>
          <p:cNvSpPr txBox="1"/>
          <p:nvPr/>
        </p:nvSpPr>
        <p:spPr>
          <a:xfrm>
            <a:off x="946150" y="1578356"/>
            <a:ext cx="8972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Blind Source Separation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Separation of pulse and noise based on statistical independence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Physics based Models (CHROM)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Principle</a:t>
            </a:r>
            <a:r>
              <a:rPr lang="de-DE" dirty="0"/>
              <a:t>: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skin</a:t>
            </a:r>
            <a:r>
              <a:rPr lang="de-DE" dirty="0"/>
              <a:t>-light-</a:t>
            </a:r>
            <a:r>
              <a:rPr lang="de-DE" dirty="0" err="1"/>
              <a:t>reflection</a:t>
            </a:r>
            <a:r>
              <a:rPr lang="de-DE" dirty="0"/>
              <a:t> </a:t>
            </a:r>
            <a:r>
              <a:rPr lang="de-DE" dirty="0" err="1"/>
              <a:t>properties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robust real-time tracking</a:t>
            </a:r>
            <a:r>
              <a:rPr lang="de-DE" baseline="30000" dirty="0"/>
              <a:t>2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Deep Learning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Principle</a:t>
            </a:r>
            <a:r>
              <a:rPr lang="de-DE" dirty="0"/>
              <a:t>: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high accuracy</a:t>
            </a:r>
            <a:r>
              <a:rPr lang="de-DE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376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C84F-146D-E4DE-A4B4-F7545414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D320C2EB-AF71-C330-9499-83E7498AA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90A5314-0A23-1580-E04F-92C67946C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A2EA719E-B4E5-FB52-D390-EEFB083CB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3EE4F1B7-5646-722D-8832-8AE40DE04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2F5E43B-9CFF-CCA7-12F4-37C57F54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64FC8E2-5D06-5B59-9476-7A4EE58C20EB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BC418DF-1F17-5DE5-AD4A-839E5FA7145A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69D2E20-DF5C-8151-C87E-88C4D9C6FFD1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C6CB249F-F49A-CC46-1F6C-E2AC1C26A370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477878-57B0-EFBA-F1C9-35BB2216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7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2AC523-9086-4945-64F3-A2FDF351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E0CB7D9-06BB-60E3-9D4F-4E0D7A745CB7}"/>
              </a:ext>
            </a:extLst>
          </p:cNvPr>
          <p:cNvSpPr txBox="1"/>
          <p:nvPr/>
        </p:nvSpPr>
        <p:spPr>
          <a:xfrm>
            <a:off x="800100" y="923028"/>
            <a:ext cx="812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(Blind Source Separation)</a:t>
            </a:r>
          </a:p>
          <a:p>
            <a:endParaRPr lang="de-DE" sz="2400" dirty="0">
              <a:latin typeface="Univers Condensed" panose="020B050602020205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F73EE34-2C05-19FC-E11D-664DB31B7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837" y="1516451"/>
            <a:ext cx="4141327" cy="216835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8EFCA93-C4F0-13D9-378F-C23148C86EA3}"/>
              </a:ext>
            </a:extLst>
          </p:cNvPr>
          <p:cNvSpPr txBox="1"/>
          <p:nvPr/>
        </p:nvSpPr>
        <p:spPr>
          <a:xfrm>
            <a:off x="800100" y="1481942"/>
            <a:ext cx="65341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Signal </a:t>
            </a:r>
            <a:r>
              <a:rPr lang="de-DE" dirty="0" err="1"/>
              <a:t>Mixture</a:t>
            </a:r>
            <a:r>
              <a:rPr lang="de-DE" dirty="0"/>
              <a:t>: The </a:t>
            </a:r>
            <a:r>
              <a:rPr lang="de-DE" dirty="0" err="1"/>
              <a:t>camera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mixture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independent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(Pulse, Light, Motion)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Mathematical</a:t>
            </a:r>
            <a:r>
              <a:rPr lang="de-DE" dirty="0"/>
              <a:t> Tool: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 like JADE </a:t>
            </a:r>
            <a:r>
              <a:rPr lang="de-DE" dirty="0" err="1"/>
              <a:t>to</a:t>
            </a:r>
            <a:r>
              <a:rPr lang="de-DE" dirty="0"/>
              <a:t> separate </a:t>
            </a:r>
            <a:r>
              <a:rPr lang="de-DE" dirty="0" err="1"/>
              <a:t>the</a:t>
            </a:r>
            <a:r>
              <a:rPr lang="de-DE" dirty="0"/>
              <a:t> signals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Signal </a:t>
            </a:r>
            <a:r>
              <a:rPr lang="de-DE" dirty="0" err="1"/>
              <a:t>Refinement</a:t>
            </a:r>
            <a:r>
              <a:rPr lang="de-DE" dirty="0"/>
              <a:t> (</a:t>
            </a:r>
            <a:r>
              <a:rPr lang="de-DE" dirty="0" err="1"/>
              <a:t>Filtering</a:t>
            </a:r>
            <a:r>
              <a:rPr lang="de-DE" dirty="0"/>
              <a:t>)</a:t>
            </a:r>
            <a:r>
              <a:rPr lang="de-DE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Bandpass</a:t>
            </a:r>
            <a:r>
              <a:rPr lang="de-DE" dirty="0"/>
              <a:t> Limit: </a:t>
            </a:r>
            <a:r>
              <a:rPr lang="de-DE" dirty="0" err="1"/>
              <a:t>Restrict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45-240BPM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Fast Fourier Transform Analysis: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strongest</a:t>
            </a:r>
            <a:r>
              <a:rPr lang="de-DE" dirty="0"/>
              <a:t> </a:t>
            </a:r>
            <a:r>
              <a:rPr lang="de-DE" dirty="0" err="1"/>
              <a:t>periodic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(</a:t>
            </a:r>
            <a:r>
              <a:rPr lang="de-DE" dirty="0" err="1"/>
              <a:t>the</a:t>
            </a:r>
            <a:r>
              <a:rPr lang="de-DE" dirty="0"/>
              <a:t> Heart rate)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Outlier</a:t>
            </a:r>
            <a:r>
              <a:rPr lang="de-DE" dirty="0"/>
              <a:t> </a:t>
            </a:r>
            <a:r>
              <a:rPr lang="de-DE" dirty="0" err="1"/>
              <a:t>Rejection</a:t>
            </a:r>
            <a:r>
              <a:rPr lang="de-DE" dirty="0"/>
              <a:t>: </a:t>
            </a:r>
            <a:r>
              <a:rPr lang="de-DE" dirty="0" err="1"/>
              <a:t>Prevents</a:t>
            </a:r>
            <a:r>
              <a:rPr lang="de-DE" dirty="0"/>
              <a:t> </a:t>
            </a:r>
            <a:r>
              <a:rPr lang="de-DE" dirty="0" err="1"/>
              <a:t>unrealistic</a:t>
            </a:r>
            <a:r>
              <a:rPr lang="de-DE" dirty="0"/>
              <a:t> </a:t>
            </a:r>
            <a:r>
              <a:rPr lang="de-DE" dirty="0" err="1"/>
              <a:t>jumps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Limitation</a:t>
            </a:r>
            <a:r>
              <a:rPr lang="de-DE" baseline="30000" dirty="0"/>
              <a:t>1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Misidentification</a:t>
            </a:r>
            <a:r>
              <a:rPr lang="de-DE" dirty="0"/>
              <a:t>: In extreme light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motion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(light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pulse)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picked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Requires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(30 </a:t>
            </a:r>
            <a:r>
              <a:rPr lang="de-DE" dirty="0" err="1"/>
              <a:t>seconds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74F4448-BD66-0863-9158-28FA201EBC7A}"/>
              </a:ext>
            </a:extLst>
          </p:cNvPr>
          <p:cNvSpPr txBox="1"/>
          <p:nvPr/>
        </p:nvSpPr>
        <p:spPr>
          <a:xfrm>
            <a:off x="7768454" y="3686794"/>
            <a:ext cx="42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Separating independent sources from raw skin color channels (RGB) using the JADE algorithm for rPPG</a:t>
            </a:r>
            <a:r>
              <a:rPr lang="en-US" sz="1400" baseline="30000" dirty="0"/>
              <a:t>1</a:t>
            </a:r>
            <a:endParaRPr lang="de-DE" sz="1400" baseline="300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A8D8ABD-A5E1-2F0A-C1FD-ED24C94BC229}"/>
              </a:ext>
            </a:extLst>
          </p:cNvPr>
          <p:cNvSpPr txBox="1"/>
          <p:nvPr/>
        </p:nvSpPr>
        <p:spPr>
          <a:xfrm>
            <a:off x="800100" y="57599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poh2010non</a:t>
            </a:r>
          </a:p>
        </p:txBody>
      </p:sp>
    </p:spTree>
    <p:extLst>
      <p:ext uri="{BB962C8B-B14F-4D97-AF65-F5344CB8AC3E}">
        <p14:creationId xmlns:p14="http://schemas.microsoft.com/office/powerpoint/2010/main" val="170085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6838-6BDD-FA24-13BF-068E8186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9100388F-E96C-8341-5079-52C80E694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5B9EC84-EAA5-B800-F7FC-FECA3302F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F26F1BB2-394C-F308-FF9C-D12CBBE2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F9CC3A6D-3C7A-2D99-0631-213EA914B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B50FFDEE-19ED-4751-26EA-F1E1D4B67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22C1FAB-4ABD-8EBB-CCE7-7C6564CE0E0F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3FB0D83-EBC4-CF5E-EB2D-90EF6F2915C8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2A6114B-64CC-4D49-8912-BF73894CA9B1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639E182-41D0-CC57-26E1-8690BAA7B3AD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7AC78C-8610-43A2-1F5B-855DB5AC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8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F467CAD-94B9-AF23-4966-CF1B5F7E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7BDF329-5C49-9D8D-674D-94D274555D94}"/>
              </a:ext>
            </a:extLst>
          </p:cNvPr>
          <p:cNvSpPr txBox="1"/>
          <p:nvPr/>
        </p:nvSpPr>
        <p:spPr>
          <a:xfrm>
            <a:off x="800100" y="923028"/>
            <a:ext cx="812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(CHROM)</a:t>
            </a:r>
          </a:p>
          <a:p>
            <a:endParaRPr lang="de-DE" sz="2400" dirty="0">
              <a:latin typeface="Univers Condensed" panose="020B050602020205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3E610F6-BD12-30FE-94A4-F9CFF7665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834" y="923028"/>
            <a:ext cx="3146062" cy="216923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A32147A-B447-9F7D-2375-258E7C733E9B}"/>
              </a:ext>
            </a:extLst>
          </p:cNvPr>
          <p:cNvSpPr txBox="1"/>
          <p:nvPr/>
        </p:nvSpPr>
        <p:spPr>
          <a:xfrm>
            <a:off x="834390" y="1408023"/>
            <a:ext cx="7092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Physicsbased</a:t>
            </a:r>
            <a:r>
              <a:rPr lang="de-DE" dirty="0"/>
              <a:t> alternative: </a:t>
            </a:r>
            <a:r>
              <a:rPr lang="de-DE" dirty="0" err="1"/>
              <a:t>Chrominance-based</a:t>
            </a:r>
            <a:r>
              <a:rPr lang="de-DE" dirty="0"/>
              <a:t> method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Camera</a:t>
            </a:r>
            <a:r>
              <a:rPr lang="de-DE" dirty="0"/>
              <a:t> sees:</a:t>
            </a:r>
            <a:r>
              <a:rPr lang="de-DE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Intensity</a:t>
            </a:r>
            <a:r>
              <a:rPr lang="de-DE" dirty="0"/>
              <a:t>: </a:t>
            </a:r>
            <a:r>
              <a:rPr lang="de-DE" dirty="0" err="1"/>
              <a:t>Brightness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Specular</a:t>
            </a:r>
            <a:r>
              <a:rPr lang="de-DE" dirty="0"/>
              <a:t> </a:t>
            </a:r>
            <a:r>
              <a:rPr lang="de-DE" dirty="0" err="1"/>
              <a:t>Reflection</a:t>
            </a:r>
            <a:r>
              <a:rPr lang="de-DE" dirty="0"/>
              <a:t>: Mirror-like glare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surface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Static Skin Color: The </a:t>
            </a:r>
            <a:r>
              <a:rPr lang="de-DE" dirty="0" err="1"/>
              <a:t>constant</a:t>
            </a:r>
            <a:r>
              <a:rPr lang="de-DE" dirty="0"/>
              <a:t> </a:t>
            </a:r>
            <a:r>
              <a:rPr lang="de-DE" dirty="0" err="1"/>
              <a:t>tissue</a:t>
            </a:r>
            <a:r>
              <a:rPr lang="de-DE" dirty="0"/>
              <a:t> </a:t>
            </a:r>
            <a:r>
              <a:rPr lang="de-DE" dirty="0" err="1"/>
              <a:t>color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2D-Projection RGB </a:t>
            </a:r>
            <a:r>
              <a:rPr lang="de-DE" dirty="0" err="1"/>
              <a:t>signals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projected</a:t>
            </a:r>
            <a:r>
              <a:rPr lang="de-DE" dirty="0"/>
              <a:t> </a:t>
            </a:r>
            <a:r>
              <a:rPr lang="de-DE" dirty="0" err="1"/>
              <a:t>onto</a:t>
            </a:r>
            <a:r>
              <a:rPr lang="de-DE" dirty="0"/>
              <a:t> a plane </a:t>
            </a:r>
            <a:r>
              <a:rPr lang="de-DE" dirty="0" err="1"/>
              <a:t>perpendicular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skin</a:t>
            </a:r>
            <a:r>
              <a:rPr lang="de-DE" dirty="0"/>
              <a:t> tone 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Noise </a:t>
            </a:r>
            <a:r>
              <a:rPr lang="de-DE" dirty="0" err="1"/>
              <a:t>cancellation</a:t>
            </a:r>
            <a:r>
              <a:rPr lang="de-DE" dirty="0"/>
              <a:t>: A clean, </a:t>
            </a:r>
            <a:r>
              <a:rPr lang="de-DE" dirty="0" err="1"/>
              <a:t>movement</a:t>
            </a:r>
            <a:r>
              <a:rPr lang="de-DE" dirty="0"/>
              <a:t>-robust pulse signal</a:t>
            </a:r>
            <a:r>
              <a:rPr lang="de-DE" baseline="30000" dirty="0"/>
              <a:t>1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Bandpass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(0.7-4.0Hz) -&gt; </a:t>
            </a:r>
            <a:r>
              <a:rPr lang="de-DE" dirty="0" err="1"/>
              <a:t>matching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human </a:t>
            </a:r>
            <a:r>
              <a:rPr lang="de-DE" dirty="0" err="1"/>
              <a:t>heart</a:t>
            </a:r>
            <a:r>
              <a:rPr lang="de-DE" dirty="0"/>
              <a:t> rate (42-240BPM)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Fast Fourier Transform: </a:t>
            </a:r>
            <a:r>
              <a:rPr lang="de-DE" dirty="0" err="1"/>
              <a:t>Identifies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strongest</a:t>
            </a:r>
            <a:r>
              <a:rPr lang="de-DE" dirty="0"/>
              <a:t> </a:t>
            </a:r>
            <a:r>
              <a:rPr lang="de-DE" dirty="0" err="1"/>
              <a:t>periodic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determine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heart</a:t>
            </a:r>
            <a:r>
              <a:rPr lang="de-DE" dirty="0"/>
              <a:t> rate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7396CD-3933-C7D1-3FD3-D4E7075B6BFE}"/>
              </a:ext>
            </a:extLst>
          </p:cNvPr>
          <p:cNvSpPr txBox="1"/>
          <p:nvPr/>
        </p:nvSpPr>
        <p:spPr>
          <a:xfrm>
            <a:off x="1003990" y="57599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dehaan2013chrom</a:t>
            </a:r>
            <a:r>
              <a:rPr lang="de-DE" sz="1200" dirty="0"/>
              <a:t> </a:t>
            </a:r>
            <a:endParaRPr lang="de-DE" sz="1200" dirty="0">
              <a:solidFill>
                <a:schemeClr val="dk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EA9C157-1D87-2FCE-2006-41D4ABCD4551}"/>
              </a:ext>
            </a:extLst>
          </p:cNvPr>
          <p:cNvSpPr txBox="1"/>
          <p:nvPr/>
        </p:nvSpPr>
        <p:spPr>
          <a:xfrm>
            <a:off x="7849187" y="3121223"/>
            <a:ext cx="4265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illustration depicts light reflection on the skin </a:t>
            </a:r>
            <a:r>
              <a:rPr lang="en-US" sz="1400" baseline="30000" dirty="0"/>
              <a:t>1</a:t>
            </a:r>
            <a:endParaRPr lang="de-DE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413423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A43A-EE7E-7068-AFF9-C51A7499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D58AA274-7DD2-D0A3-5DB8-710FBCBEA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AAC9E8C-50D8-F99A-334E-1A2CA33D1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26CCDB00-71AB-8B60-B67B-02EEFA437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F3451722-DC29-2C8F-156A-C20109997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11E7F07A-7C8F-EB12-A236-0BB5B99D5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0F97F4B-D33D-0DA9-0D0A-B4E884B83FC0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9FB3589-534E-BBCD-BB40-08A036D18C17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CBCC6A9-CDD5-19D5-0C3C-2BC43F69BDAE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1C1A646-2035-6383-92B8-25067D045A0C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5FAC87-9ACB-EFA6-1633-C4120288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9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7AB8EB-A174-B633-1D2D-A332FAED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E415D31-57EA-6B96-AD2A-A95E70CB5ED8}"/>
              </a:ext>
            </a:extLst>
          </p:cNvPr>
          <p:cNvSpPr txBox="1"/>
          <p:nvPr/>
        </p:nvSpPr>
        <p:spPr>
          <a:xfrm>
            <a:off x="736600" y="903136"/>
            <a:ext cx="812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(CHROM)</a:t>
            </a:r>
          </a:p>
          <a:p>
            <a:endParaRPr lang="de-DE" sz="2400" dirty="0">
              <a:latin typeface="Univers Condensed" panose="020B050602020205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8B1C9D0-E3B0-2250-ECA2-7040F8D46740}"/>
              </a:ext>
            </a:extLst>
          </p:cNvPr>
          <p:cNvSpPr txBox="1"/>
          <p:nvPr/>
        </p:nvSpPr>
        <p:spPr>
          <a:xfrm>
            <a:off x="736600" y="1511883"/>
            <a:ext cx="7410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98 % in stable conditions, 92 % correlation with medical sensors (ground truth)</a:t>
            </a:r>
            <a:r>
              <a:rPr lang="en-US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"Motion" Advantage: Maintains a 48% success rate under heavy movement – where BSS models drop to a failing 4-11%</a:t>
            </a:r>
            <a:r>
              <a:rPr lang="en-US" baseline="30000" dirty="0"/>
              <a:t>1</a:t>
            </a:r>
            <a:endParaRPr lang="de-DE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Low </a:t>
            </a:r>
            <a:r>
              <a:rPr lang="de-DE" dirty="0" err="1"/>
              <a:t>latency</a:t>
            </a:r>
            <a:r>
              <a:rPr lang="de-DE" dirty="0"/>
              <a:t>: </a:t>
            </a:r>
            <a:r>
              <a:rPr lang="de-DE" dirty="0" err="1"/>
              <a:t>Only</a:t>
            </a:r>
            <a:r>
              <a:rPr lang="de-DE" dirty="0"/>
              <a:t> 1.6s (</a:t>
            </a:r>
            <a:r>
              <a:rPr lang="de-DE" dirty="0" err="1"/>
              <a:t>vs</a:t>
            </a:r>
            <a:r>
              <a:rPr lang="de-DE" dirty="0"/>
              <a:t> 30s </a:t>
            </a:r>
            <a:r>
              <a:rPr lang="de-DE" dirty="0" err="1"/>
              <a:t>with</a:t>
            </a:r>
            <a:r>
              <a:rPr lang="de-DE" dirty="0"/>
              <a:t> BSS)</a:t>
            </a:r>
            <a:r>
              <a:rPr lang="de-DE" baseline="30000" dirty="0"/>
              <a:t>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Diversity</a:t>
            </a:r>
            <a:r>
              <a:rPr lang="de-DE" dirty="0"/>
              <a:t>: Robust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all </a:t>
            </a:r>
            <a:r>
              <a:rPr lang="de-DE" dirty="0" err="1"/>
              <a:t>skin</a:t>
            </a:r>
            <a:r>
              <a:rPr lang="de-DE" dirty="0"/>
              <a:t> tones</a:t>
            </a:r>
            <a:r>
              <a:rPr lang="de-DE" baseline="30000" dirty="0"/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A9F8592-AE0A-58BD-C1AE-7D71000129F8}"/>
              </a:ext>
            </a:extLst>
          </p:cNvPr>
          <p:cNvSpPr txBox="1"/>
          <p:nvPr/>
        </p:nvSpPr>
        <p:spPr>
          <a:xfrm>
            <a:off x="1003990" y="57599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dehaan2013chrom</a:t>
            </a:r>
            <a:r>
              <a:rPr lang="de-DE" sz="1200" dirty="0"/>
              <a:t> </a:t>
            </a:r>
            <a:endParaRPr lang="de-DE"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15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1507-6FC3-8DFB-C313-1604C040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89C545A5-70DF-DDC2-4820-15FE684C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98A70C6-D6E2-0F91-02DE-909EAD6B7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1C871C86-F320-D595-2A35-B1D0EBC2B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88E52F86-CA59-F2E8-2A03-85E9E67D2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898FA3A5-9E81-2687-6B17-4ECC38ADA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665CA7D-3434-7A3A-002E-CE4C3A5969A0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2B1701D-DD18-E523-E25C-50D04706E6DE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1DD4C7F-8E41-DA72-8740-8E56FC895D9C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16B9157-925B-D9B8-3B4F-FC32114B8056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8CD9C6-FB5D-9620-E490-CB9D402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10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92F2DF-AC4F-2FAB-7007-8A896452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ED1A414-50D4-855A-76D9-C7415FBB04E0}"/>
              </a:ext>
            </a:extLst>
          </p:cNvPr>
          <p:cNvSpPr txBox="1"/>
          <p:nvPr/>
        </p:nvSpPr>
        <p:spPr>
          <a:xfrm>
            <a:off x="736600" y="938458"/>
            <a:ext cx="8121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Remote </a:t>
            </a:r>
            <a:r>
              <a:rPr lang="de-DE" sz="2400" dirty="0" err="1"/>
              <a:t>Photoplethysmography</a:t>
            </a:r>
            <a:r>
              <a:rPr lang="de-DE" sz="2400" dirty="0"/>
              <a:t> (Deep Learning Models)</a:t>
            </a:r>
          </a:p>
          <a:p>
            <a:endParaRPr lang="de-DE" sz="2400" dirty="0">
              <a:latin typeface="Univers Condensed" panose="020B050602020205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0BCC12E-D990-F27C-373F-5B49781135FF}"/>
              </a:ext>
            </a:extLst>
          </p:cNvPr>
          <p:cNvSpPr txBox="1"/>
          <p:nvPr/>
        </p:nvSpPr>
        <p:spPr>
          <a:xfrm>
            <a:off x="800100" y="1490483"/>
            <a:ext cx="65341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Transition </a:t>
            </a:r>
            <a:r>
              <a:rPr lang="de-DE" dirty="0" err="1"/>
              <a:t>to</a:t>
            </a:r>
            <a:r>
              <a:rPr lang="de-DE" dirty="0"/>
              <a:t> End-</a:t>
            </a:r>
            <a:r>
              <a:rPr lang="de-DE" dirty="0" err="1"/>
              <a:t>to</a:t>
            </a:r>
            <a:r>
              <a:rPr lang="de-DE" dirty="0"/>
              <a:t>-End Deep Learning Models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Fully </a:t>
            </a:r>
            <a:r>
              <a:rPr lang="de-DE" dirty="0" err="1"/>
              <a:t>automated</a:t>
            </a:r>
            <a:r>
              <a:rPr lang="de-DE" dirty="0"/>
              <a:t>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manual</a:t>
            </a:r>
            <a:r>
              <a:rPr lang="de-DE" dirty="0"/>
              <a:t> Face/ROI </a:t>
            </a:r>
            <a:r>
              <a:rPr lang="de-DE" dirty="0" err="1"/>
              <a:t>selection</a:t>
            </a:r>
            <a:r>
              <a:rPr lang="de-DE" dirty="0"/>
              <a:t> required</a:t>
            </a:r>
            <a:r>
              <a:rPr lang="de-DE" baseline="30000" dirty="0"/>
              <a:t>1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Data challenges:</a:t>
            </a:r>
            <a:r>
              <a:rPr lang="de-DE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Significant</a:t>
            </a:r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large-</a:t>
            </a:r>
            <a:r>
              <a:rPr lang="de-DE" dirty="0" err="1"/>
              <a:t>scale</a:t>
            </a:r>
            <a:r>
              <a:rPr lang="de-DE" dirty="0"/>
              <a:t>, high-quality </a:t>
            </a:r>
            <a:r>
              <a:rPr lang="de-DE" dirty="0" err="1"/>
              <a:t>datasets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Underrepresentation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diverse </a:t>
            </a:r>
            <a:r>
              <a:rPr lang="de-DE" dirty="0" err="1"/>
              <a:t>age</a:t>
            </a:r>
            <a:r>
              <a:rPr lang="de-DE" dirty="0"/>
              <a:t> </a:t>
            </a:r>
            <a:r>
              <a:rPr lang="de-DE" dirty="0" err="1"/>
              <a:t>groups</a:t>
            </a:r>
            <a:r>
              <a:rPr lang="de-DE" dirty="0"/>
              <a:t> and </a:t>
            </a:r>
            <a:r>
              <a:rPr lang="de-DE" dirty="0" err="1"/>
              <a:t>skin</a:t>
            </a:r>
            <a:r>
              <a:rPr lang="de-DE" dirty="0"/>
              <a:t> </a:t>
            </a:r>
            <a:r>
              <a:rPr lang="de-DE" dirty="0" err="1"/>
              <a:t>pigmentations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Optimization</a:t>
            </a:r>
            <a:r>
              <a:rPr lang="en-US" b="1" dirty="0"/>
              <a:t>:</a:t>
            </a:r>
            <a:r>
              <a:rPr lang="en-US" dirty="0"/>
              <a:t> Ongoing research into lightweight</a:t>
            </a:r>
            <a:r>
              <a:rPr lang="en-US" b="1" dirty="0"/>
              <a:t> </a:t>
            </a:r>
            <a:r>
              <a:rPr lang="en-US" dirty="0"/>
              <a:t>models for real-time deployment on smartphone hardware</a:t>
            </a:r>
            <a:r>
              <a:rPr lang="en-US" baseline="30000" dirty="0"/>
              <a:t>1</a:t>
            </a:r>
            <a:endParaRPr lang="de-DE" baseline="30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9B90EEE-0396-F86E-AD79-0E60306489C9}"/>
              </a:ext>
            </a:extLst>
          </p:cNvPr>
          <p:cNvSpPr txBox="1"/>
          <p:nvPr/>
        </p:nvSpPr>
        <p:spPr>
          <a:xfrm>
            <a:off x="1003990" y="57599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Debnath25</a:t>
            </a:r>
          </a:p>
        </p:txBody>
      </p:sp>
    </p:spTree>
    <p:extLst>
      <p:ext uri="{BB962C8B-B14F-4D97-AF65-F5344CB8AC3E}">
        <p14:creationId xmlns:p14="http://schemas.microsoft.com/office/powerpoint/2010/main" val="70082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2DEF-ACA1-6C92-DD8A-704A4581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5DCF08CB-2D9C-E2BA-1383-4559BAE04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A8986E0-4D34-8A17-792B-43910EA65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3C02D496-6859-8317-F82D-59FC6617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8F2C75AF-DC88-2BEB-B18C-BC59F24F4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812B2356-A46B-9E7A-3E30-EFAC646C4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1CF846F-0F31-AC34-5EE3-CFF64CB3CE21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ACA3870-D578-085F-6F6C-6F101E16A9F8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66B54C9-C64C-A6CB-6457-E2FDC89B03C8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0F768CB3-14C7-B976-2D72-58902D47E190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B206DF-45D7-47D2-6DCA-46373A5E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11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4089CA5-97B9-1C4F-6774-4C500F9F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9D4E428-D6B7-7A33-625C-097E0E85D200}"/>
              </a:ext>
            </a:extLst>
          </p:cNvPr>
          <p:cNvSpPr txBox="1"/>
          <p:nvPr/>
        </p:nvSpPr>
        <p:spPr>
          <a:xfrm>
            <a:off x="800100" y="94133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Musical Biofeedback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81818C1-B3EB-507E-8F91-4707D12AA53F}"/>
              </a:ext>
            </a:extLst>
          </p:cNvPr>
          <p:cNvSpPr txBox="1"/>
          <p:nvPr/>
        </p:nvSpPr>
        <p:spPr>
          <a:xfrm>
            <a:off x="838200" y="1460598"/>
            <a:ext cx="65341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Ecological Perception: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natural associations (e.g. distance) to represent intensity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Decreasing volume mimics a sound source moving away,  making data changes intuitive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Data-</a:t>
            </a:r>
            <a:r>
              <a:rPr lang="de-DE" dirty="0" err="1"/>
              <a:t>to</a:t>
            </a:r>
            <a:r>
              <a:rPr lang="de-DE" dirty="0"/>
              <a:t>-Music Transformation:</a:t>
            </a:r>
            <a:r>
              <a:rPr lang="de-DE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heartbeat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an </a:t>
            </a:r>
            <a:r>
              <a:rPr lang="de-DE" dirty="0" err="1"/>
              <a:t>auditory</a:t>
            </a:r>
            <a:r>
              <a:rPr lang="de-DE" dirty="0"/>
              <a:t> stream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: </a:t>
            </a:r>
            <a:r>
              <a:rPr lang="de-DE" dirty="0" err="1"/>
              <a:t>ensures</a:t>
            </a:r>
            <a:r>
              <a:rPr lang="de-DE" dirty="0"/>
              <a:t> immediate, fluid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physiological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403A09-E921-1A52-2AEF-98A69AD99F1F}"/>
              </a:ext>
            </a:extLst>
          </p:cNvPr>
          <p:cNvSpPr txBox="1"/>
          <p:nvPr/>
        </p:nvSpPr>
        <p:spPr>
          <a:xfrm>
            <a:off x="1003990" y="5759993"/>
            <a:ext cx="5092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dubus2013systematic</a:t>
            </a:r>
          </a:p>
        </p:txBody>
      </p:sp>
    </p:spTree>
    <p:extLst>
      <p:ext uri="{BB962C8B-B14F-4D97-AF65-F5344CB8AC3E}">
        <p14:creationId xmlns:p14="http://schemas.microsoft.com/office/powerpoint/2010/main" val="3318407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05B2-D015-2644-81AD-7D3F3EFB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BB812958-0B9B-7ECC-0FE3-9DAA2DA64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31E9F1A-A3C0-2423-C1C7-0FAAFC2D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D83A8D41-D7AE-7FA8-F884-0DA7B7A75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AAC3C831-C41A-ADB9-48D9-EBD8795F5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6F646132-AA57-C46D-C594-6815E5137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208467F-EBBA-5BE6-C3A0-E3F75B0778BA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F3859AF-7862-98C3-CEB9-532065AD6FFA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EDE8DC4-AB89-E1C2-7431-192047CF0C39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88D81DB-3BFD-B4E3-2817-B81C63EF19F4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F4343A-CDE4-D8B5-DAF1-7B5016D7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12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3A5D50-48B4-6B50-6F64-CAE9F1C9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CAEE0FB-3C66-43CA-4B03-1E6C0BDED28F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Regeneration and Consciousness Regulation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0543B3E-211E-56C1-2061-17EB639F3027}"/>
              </a:ext>
            </a:extLst>
          </p:cNvPr>
          <p:cNvSpPr txBox="1"/>
          <p:nvPr/>
        </p:nvSpPr>
        <p:spPr>
          <a:xfrm>
            <a:off x="838200" y="1663700"/>
            <a:ext cx="688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Cardiovascular Synchronization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Resonance Frequency: Achieved at ~6 breaths per minute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Harmonic State: Heart rate and blood pressure synchronize for maximum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Optimized gas exchange in the lungs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Less strain on the cardiovascular system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Physiological Impact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Deep Relaxation Response in the body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auditory signal acts as a meditative anchor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Mindfulness</a:t>
            </a:r>
            <a:r>
              <a:rPr lang="en-US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Enhances sensitivity to thoughts and emotional states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Promotes an attitude of curiosity, openness and acceptance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Helps to perceive the internal state without judgement</a:t>
            </a:r>
          </a:p>
          <a:p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1AE5AE7-52EE-A158-995C-C1A1B20C4BCA}"/>
              </a:ext>
            </a:extLst>
          </p:cNvPr>
          <p:cNvSpPr txBox="1"/>
          <p:nvPr/>
        </p:nvSpPr>
        <p:spPr>
          <a:xfrm>
            <a:off x="8028330" y="5796472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lehrer2014heart, [2] cf. bishop2004mindfulness </a:t>
            </a:r>
          </a:p>
        </p:txBody>
      </p:sp>
    </p:spTree>
    <p:extLst>
      <p:ext uri="{BB962C8B-B14F-4D97-AF65-F5344CB8AC3E}">
        <p14:creationId xmlns:p14="http://schemas.microsoft.com/office/powerpoint/2010/main" val="129382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5421-DE3C-B28A-AFFE-FAF073C7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0F6F5E86-AEF4-83A7-909B-4D7778E6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B7F004E9-263A-45FE-58E5-6BEC3C600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8FE12B31-8196-6318-972F-D9774E9BD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EA2E5CD5-324D-6AD3-2705-0FA765851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A00CB83-2E90-11AC-C07E-818153397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E12CBC0-A978-4EE0-3B99-1A555DD9BED9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D42B7FD8-7CC6-9F0F-E1BD-57423608E2CC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06A1D65-BEC2-FEF5-8E43-DD43E6D450AC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5DDF7F3-B798-6D22-19E3-E83B0AD6CCC9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F9F947-D7E2-CB83-A51B-690B6F6C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13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CB5597-CBCD-3AD9-41A8-B3DE4669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7759A5-AF1E-A815-4EBE-6929FB07606C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Case Studies (</a:t>
            </a:r>
            <a:r>
              <a:rPr lang="de-DE" sz="2400" dirty="0" err="1">
                <a:latin typeface="Univers Condensed" panose="020B0506020202050204" pitchFamily="34" charset="0"/>
              </a:rPr>
              <a:t>Unwind</a:t>
            </a:r>
            <a:r>
              <a:rPr lang="de-DE" sz="2400" dirty="0">
                <a:latin typeface="Univers Condensed" panose="020B0506020202050204" pitchFamily="34" charset="0"/>
              </a:rPr>
              <a:t> System)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CB5CC86-A140-E52F-D445-3A927DFAEB33}"/>
              </a:ext>
            </a:extLst>
          </p:cNvPr>
          <p:cNvSpPr txBox="1"/>
          <p:nvPr/>
        </p:nvSpPr>
        <p:spPr>
          <a:xfrm>
            <a:off x="838200" y="1663700"/>
            <a:ext cx="58737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Concept: Nature </a:t>
            </a:r>
            <a:r>
              <a:rPr lang="de-DE" dirty="0" err="1"/>
              <a:t>soundscapes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sedative </a:t>
            </a:r>
            <a:r>
              <a:rPr lang="de-DE" dirty="0" err="1"/>
              <a:t>music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guide</a:t>
            </a:r>
            <a:r>
              <a:rPr lang="de-DE" dirty="0"/>
              <a:t> relaxation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HRV Sonification</a:t>
            </a:r>
            <a:r>
              <a:rPr lang="de-DE" baseline="30000" dirty="0"/>
              <a:t>1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Wind Mapping: </a:t>
            </a:r>
            <a:r>
              <a:rPr lang="en-US" dirty="0"/>
              <a:t>Heart Rate Variability (HRV) is mapped to wind sounds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Users adapt their breathing to transform the wind into a smooth, consistent sine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Adaptive Soundscape</a:t>
            </a:r>
            <a:r>
              <a:rPr lang="en-US" baseline="30000" dirty="0"/>
              <a:t>1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HRV (Stress): Environment becomes busy and complex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HRV (Relaxed): Soundscape becomes simple, transparent and calm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17DFE37-4C2C-0623-FF53-D583EB212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43" y="931450"/>
            <a:ext cx="5347851" cy="22986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DA29183-793A-9438-C5F8-F39E51C8C22C}"/>
              </a:ext>
            </a:extLst>
          </p:cNvPr>
          <p:cNvSpPr txBox="1"/>
          <p:nvPr/>
        </p:nvSpPr>
        <p:spPr>
          <a:xfrm>
            <a:off x="935380" y="57262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yu2018unwind</a:t>
            </a:r>
            <a:endParaRPr lang="de-DE" sz="1200" dirty="0">
              <a:solidFill>
                <a:schemeClr val="dk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91327A3-39DA-9D5D-D2A6-994617CFD456}"/>
              </a:ext>
            </a:extLst>
          </p:cNvPr>
          <p:cNvSpPr txBox="1"/>
          <p:nvPr/>
        </p:nvSpPr>
        <p:spPr>
          <a:xfrm>
            <a:off x="7290407" y="3374937"/>
            <a:ext cx="42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illustration depicts the feedback loop of the Unwind System</a:t>
            </a:r>
            <a:r>
              <a:rPr lang="en-US" sz="1400" baseline="30000" dirty="0"/>
              <a:t>1</a:t>
            </a:r>
            <a:endParaRPr lang="de-DE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4289535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CAB0F-6FB9-FAEB-9BCC-CEEBE4A1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9F91A81D-E946-13EF-5A89-2C037BD1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369938E-635B-B72A-D91F-4B594F3CD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1D8C14E6-9B8E-C23A-9AFD-F5D188CA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70E78651-7A34-8366-4B8C-0F421A6BE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853C0184-F102-7695-9C19-FE6E468DC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EE81E55-D203-8161-D49D-3A5CF57BD070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D1BA87C-13B6-2FED-1281-227D2C835F4D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147E01D-8A3D-0B6D-E945-E9D0906A4BC0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A97AAB4-3681-21ED-0B64-89EC3AC3133C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4E0D81-47CE-89A2-5859-84AD96D5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14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A32177-553D-DF73-4EF4-A6D48456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ACEC227-DD59-1D5C-7DD8-751E34E4C69D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Case Studies (</a:t>
            </a:r>
            <a:r>
              <a:rPr lang="de-DE" sz="2400" dirty="0" err="1">
                <a:latin typeface="Univers Condensed" panose="020B0506020202050204" pitchFamily="34" charset="0"/>
              </a:rPr>
              <a:t>Unwind</a:t>
            </a:r>
            <a:r>
              <a:rPr lang="de-DE" sz="2400" dirty="0">
                <a:latin typeface="Univers Condensed" panose="020B0506020202050204" pitchFamily="34" charset="0"/>
              </a:rPr>
              <a:t> System)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F491B3-4D6D-D398-7C95-E9E4B309D96C}"/>
              </a:ext>
            </a:extLst>
          </p:cNvPr>
          <p:cNvSpPr txBox="1"/>
          <p:nvPr/>
        </p:nvSpPr>
        <p:spPr>
          <a:xfrm>
            <a:off x="838200" y="1663700"/>
            <a:ext cx="58737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Results: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Significant reduction in both heart rate and respiration rate in comparison to the control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70% of participants used the nature sounds to visualize scenes, significantly improving focus and immersion.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9F214FA-D3C6-B82E-51A9-23F81B8D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0" y="1009946"/>
            <a:ext cx="5347851" cy="22986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A7CBBFA-9346-CD42-9C3B-922FC306A912}"/>
              </a:ext>
            </a:extLst>
          </p:cNvPr>
          <p:cNvSpPr txBox="1"/>
          <p:nvPr/>
        </p:nvSpPr>
        <p:spPr>
          <a:xfrm>
            <a:off x="935380" y="57262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yu2018unwind</a:t>
            </a:r>
            <a:endParaRPr lang="de-DE" sz="1200" dirty="0">
              <a:solidFill>
                <a:schemeClr val="dk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923EADB-3748-F5E0-74F2-D578045BD032}"/>
              </a:ext>
            </a:extLst>
          </p:cNvPr>
          <p:cNvSpPr txBox="1"/>
          <p:nvPr/>
        </p:nvSpPr>
        <p:spPr>
          <a:xfrm>
            <a:off x="7290407" y="3374937"/>
            <a:ext cx="42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illustration depicts the feedback loop of the Unwind System</a:t>
            </a:r>
            <a:r>
              <a:rPr lang="en-US" sz="1400" baseline="30000" dirty="0"/>
              <a:t>1</a:t>
            </a:r>
            <a:endParaRPr lang="de-DE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338696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0642-393A-93F5-1851-DDCB915A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222B1D6C-6000-1769-2FFF-6AF4FA685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CC19398-84A0-91BA-93FF-E3AA95665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2B4C538C-4744-673A-9B16-44357DCC8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FBF75758-0096-C05C-40EE-412E92D10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FB6E754A-52AA-1936-8CCE-E30258986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92FBEC9-631B-900D-17D9-116FCCF0A9CF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2427A5A-C76B-C0C6-2236-784A45D96300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B086A10-6F96-2450-0015-994343C48846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3A3291A-B697-A750-CF53-0A245C6C8277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423E85-9E46-4463-8098-4844A7DE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15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918D8C-F387-A6DD-7475-D34636AA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610349A-50A0-89FD-1418-DBD182226B2C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Case Studies (</a:t>
            </a:r>
            <a:r>
              <a:rPr lang="de-DE" sz="2400" dirty="0" err="1">
                <a:latin typeface="Univers Condensed" panose="020B0506020202050204" pitchFamily="34" charset="0"/>
              </a:rPr>
              <a:t>Muse</a:t>
            </a:r>
            <a:r>
              <a:rPr lang="de-DE" sz="2400" baseline="30000" dirty="0" err="1">
                <a:latin typeface="Univers Condensed" panose="020B0506020202050204" pitchFamily="34" charset="0"/>
              </a:rPr>
              <a:t>TM</a:t>
            </a:r>
            <a:r>
              <a:rPr lang="de-DE" sz="2400" dirty="0">
                <a:latin typeface="Univers Condensed" panose="020B0506020202050204" pitchFamily="34" charset="0"/>
              </a:rPr>
              <a:t> </a:t>
            </a:r>
            <a:r>
              <a:rPr lang="de-DE" sz="2400" dirty="0" err="1">
                <a:latin typeface="Univers Condensed" panose="020B0506020202050204" pitchFamily="34" charset="0"/>
              </a:rPr>
              <a:t>Headband</a:t>
            </a:r>
            <a:r>
              <a:rPr lang="de-DE" sz="2400" baseline="30000" dirty="0">
                <a:latin typeface="Univers Condensed" panose="020B0506020202050204" pitchFamily="34" charset="0"/>
              </a:rPr>
              <a:t> </a:t>
            </a:r>
            <a:r>
              <a:rPr lang="de-DE" sz="2400" dirty="0">
                <a:latin typeface="Univers Condensed" panose="020B0506020202050204" pitchFamily="34" charset="0"/>
              </a:rPr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C74B363-C734-B52E-7B03-C02499665FFA}"/>
              </a:ext>
            </a:extLst>
          </p:cNvPr>
          <p:cNvSpPr txBox="1"/>
          <p:nvPr/>
        </p:nvSpPr>
        <p:spPr>
          <a:xfrm>
            <a:off x="838200" y="1663700"/>
            <a:ext cx="6883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concept</a:t>
            </a:r>
            <a:r>
              <a:rPr lang="de-DE" dirty="0"/>
              <a:t>: </a:t>
            </a:r>
            <a:r>
              <a:rPr lang="de-DE" dirty="0" err="1"/>
              <a:t>Lowering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entry</a:t>
            </a:r>
            <a:r>
              <a:rPr lang="de-DE" dirty="0"/>
              <a:t> </a:t>
            </a:r>
            <a:r>
              <a:rPr lang="de-DE" dirty="0" err="1"/>
              <a:t>barrier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meditation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real-time </a:t>
            </a:r>
            <a:r>
              <a:rPr lang="de-DE" dirty="0" err="1"/>
              <a:t>brainwave</a:t>
            </a:r>
            <a:r>
              <a:rPr lang="de-DE" dirty="0"/>
              <a:t> measurement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Daily </a:t>
            </a:r>
            <a:r>
              <a:rPr lang="de-DE" dirty="0" err="1"/>
              <a:t>attention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smartphone</a:t>
            </a:r>
            <a:r>
              <a:rPr lang="de-DE" dirty="0"/>
              <a:t> app</a:t>
            </a:r>
            <a:r>
              <a:rPr lang="de-DE" baseline="30000" dirty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Key Findings:</a:t>
            </a:r>
            <a:r>
              <a:rPr lang="de-DE" baseline="30000" dirty="0"/>
              <a:t>1</a:t>
            </a:r>
            <a:r>
              <a:rPr lang="de-DE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Stress </a:t>
            </a:r>
            <a:r>
              <a:rPr lang="de-DE" dirty="0" err="1"/>
              <a:t>Reduction</a:t>
            </a:r>
            <a:r>
              <a:rPr lang="de-DE" dirty="0"/>
              <a:t>: The experimental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recorded</a:t>
            </a:r>
            <a:r>
              <a:rPr lang="de-DE" dirty="0"/>
              <a:t> a 7% </a:t>
            </a:r>
            <a:r>
              <a:rPr lang="de-DE" dirty="0" err="1"/>
              <a:t>decrease</a:t>
            </a:r>
            <a:r>
              <a:rPr lang="de-DE" dirty="0"/>
              <a:t> after 2 </a:t>
            </a:r>
            <a:r>
              <a:rPr lang="de-DE" dirty="0" err="1"/>
              <a:t>weeks</a:t>
            </a:r>
            <a:r>
              <a:rPr lang="de-DE" dirty="0"/>
              <a:t> and 14% after 4 </a:t>
            </a:r>
            <a:r>
              <a:rPr lang="de-DE" dirty="0" err="1"/>
              <a:t>weeks</a:t>
            </a:r>
            <a:r>
              <a:rPr lang="de-DE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Mental Performance: </a:t>
            </a:r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concentration</a:t>
            </a:r>
            <a:r>
              <a:rPr lang="de-DE" dirty="0"/>
              <a:t> </a:t>
            </a:r>
            <a:r>
              <a:rPr lang="de-DE" dirty="0" err="1"/>
              <a:t>levels</a:t>
            </a:r>
            <a:r>
              <a:rPr lang="de-DE" dirty="0"/>
              <a:t> and superior </a:t>
            </a:r>
            <a:r>
              <a:rPr lang="de-DE" dirty="0" err="1"/>
              <a:t>impulse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Control Group: </a:t>
            </a:r>
            <a:r>
              <a:rPr lang="de-DE" dirty="0" err="1"/>
              <a:t>Showed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in stress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levels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Real-time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decisive</a:t>
            </a:r>
            <a:r>
              <a:rPr lang="de-DE" dirty="0"/>
              <a:t> factor</a:t>
            </a:r>
            <a:r>
              <a:rPr lang="de-DE" baseline="30000" dirty="0"/>
              <a:t>1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C3D510A-9E29-1197-8BA8-F42925881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900" y="840478"/>
            <a:ext cx="3829584" cy="269595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08449A5-8C9B-9329-EC8A-E3A1934A74C4}"/>
              </a:ext>
            </a:extLst>
          </p:cNvPr>
          <p:cNvSpPr txBox="1"/>
          <p:nvPr/>
        </p:nvSpPr>
        <p:spPr>
          <a:xfrm>
            <a:off x="935380" y="5726293"/>
            <a:ext cx="3856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app7121280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9AFE36E-7198-78D7-FBC4-9F6F35F322AF}"/>
              </a:ext>
            </a:extLst>
          </p:cNvPr>
          <p:cNvSpPr txBox="1"/>
          <p:nvPr/>
        </p:nvSpPr>
        <p:spPr>
          <a:xfrm>
            <a:off x="7926038" y="3827467"/>
            <a:ext cx="42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Subject wearing the Muse™ EEG headband during a neurofeedback session.</a:t>
            </a:r>
            <a:r>
              <a:rPr lang="en-US" sz="1400" baseline="30000" dirty="0"/>
              <a:t>1</a:t>
            </a:r>
            <a:endParaRPr lang="de-DE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88319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85CF8-7079-5E04-2849-5FD63D5C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3F61FE14-EE4B-9733-29A1-C98E290F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C806A71-4F69-81D8-FD8F-EDD5BD477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34652906-EB45-5CE9-F4F8-0F39BD011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AF7DF286-D5A8-76F3-73AC-D8ABFDA35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419523AF-8980-DE84-E8A1-119B7F07C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045C7BA-C181-D020-1841-E442F70830DE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484A3E69-2DFF-F47D-8D39-ADBF8F89851D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EA51AF2-7112-7283-4675-229A50A85C1A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74C3813-9BA9-7684-8F7B-D2DB1E9E63B8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F50B6D-19CB-7DE9-3EE6-1F444C07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16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7879BCA-631B-BEAE-C8EE-9E01C311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CDCA8D-C5E8-8A14-D001-13F37BC52DFD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Univers Condensed" panose="020B0506020202050204" pitchFamily="34" charset="0"/>
              </a:rPr>
              <a:t>Conclusion</a:t>
            </a:r>
            <a:r>
              <a:rPr lang="de-DE" sz="2400" dirty="0">
                <a:latin typeface="Univers Condensed" panose="020B0506020202050204" pitchFamily="34" charset="0"/>
              </a:rPr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C7B300E-EC9D-26FB-C6A7-F0CD1FA9BAF9}"/>
              </a:ext>
            </a:extLst>
          </p:cNvPr>
          <p:cNvSpPr txBox="1"/>
          <p:nvPr/>
        </p:nvSpPr>
        <p:spPr>
          <a:xfrm>
            <a:off x="838200" y="1682750"/>
            <a:ext cx="6959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Core Metric: Heart Rate Variability (HRV)</a:t>
            </a:r>
            <a:r>
              <a:rPr lang="en-US" baseline="30000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HRV provides significantly deeper physiological insights than simple Heart Rate (BPM)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Strategy: </a:t>
            </a:r>
            <a:r>
              <a:rPr lang="en-US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Choosing CHROM for its computational efficiency and real-time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Competitive Edge: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Unlike Blind Source Separation</a:t>
            </a:r>
            <a:r>
              <a:rPr lang="en-US" baseline="30000" dirty="0"/>
              <a:t>3</a:t>
            </a:r>
            <a:r>
              <a:rPr lang="en-US" dirty="0"/>
              <a:t>, CHROM requires shorter observation windows and effectively identifies the correct color channels </a:t>
            </a:r>
            <a:r>
              <a:rPr lang="en-US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Superior to Deep Learning: CHROM is robust against noise without the massive resource intensity or dataset bias of AI models</a:t>
            </a:r>
            <a:r>
              <a:rPr lang="en-US" baseline="30000" dirty="0"/>
              <a:t>4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388530D-B49D-7590-EFAD-2AE00D1F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980" y="-191678"/>
            <a:ext cx="3903044" cy="552138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932F607-745E-CC2B-DFAD-B2B47221454D}"/>
              </a:ext>
            </a:extLst>
          </p:cNvPr>
          <p:cNvSpPr txBox="1"/>
          <p:nvPr/>
        </p:nvSpPr>
        <p:spPr>
          <a:xfrm>
            <a:off x="8712200" y="4975960"/>
            <a:ext cx="3231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Musical Biofeedback Loop: Real-time </a:t>
            </a:r>
            <a:r>
              <a:rPr lang="de-DE" sz="1400" dirty="0" err="1"/>
              <a:t>translation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physiological</a:t>
            </a:r>
            <a:r>
              <a:rPr lang="de-DE" sz="1400" dirty="0"/>
              <a:t> </a:t>
            </a:r>
            <a:r>
              <a:rPr lang="de-DE" sz="1400" dirty="0" err="1"/>
              <a:t>rPPG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 </a:t>
            </a:r>
            <a:r>
              <a:rPr lang="de-DE" sz="1400" dirty="0" err="1"/>
              <a:t>into</a:t>
            </a:r>
            <a:r>
              <a:rPr lang="de-DE" sz="1400" dirty="0"/>
              <a:t> intuitive </a:t>
            </a:r>
            <a:r>
              <a:rPr lang="de-DE" sz="1400" dirty="0" err="1"/>
              <a:t>musical</a:t>
            </a:r>
            <a:r>
              <a:rPr lang="de-DE" sz="1400" dirty="0"/>
              <a:t> </a:t>
            </a:r>
            <a:r>
              <a:rPr lang="de-DE" sz="1400" dirty="0" err="1"/>
              <a:t>biofeedback</a:t>
            </a:r>
            <a:endParaRPr lang="de-DE" sz="1400" dirty="0"/>
          </a:p>
          <a:p>
            <a:r>
              <a:rPr lang="de-DE" sz="1400" dirty="0"/>
              <a:t>Source: Own </a:t>
            </a:r>
            <a:r>
              <a:rPr lang="de-DE" sz="1400" dirty="0" err="1"/>
              <a:t>illustration</a:t>
            </a:r>
            <a:endParaRPr lang="de-DE" sz="1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25A5CEA-A3BF-696E-DDC3-ADD829FAFBC4}"/>
              </a:ext>
            </a:extLst>
          </p:cNvPr>
          <p:cNvSpPr txBox="1"/>
          <p:nvPr/>
        </p:nvSpPr>
        <p:spPr>
          <a:xfrm>
            <a:off x="916330" y="5719943"/>
            <a:ext cx="6467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shaffer2017overview, [2] dehaan2013chrom, [3] cf. poh2010non,  [4] cf. Debnath25 </a:t>
            </a:r>
          </a:p>
        </p:txBody>
      </p:sp>
    </p:spTree>
    <p:extLst>
      <p:ext uri="{BB962C8B-B14F-4D97-AF65-F5344CB8AC3E}">
        <p14:creationId xmlns:p14="http://schemas.microsoft.com/office/powerpoint/2010/main" val="381252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C0CC-24F2-0178-A677-8E6FECA1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9A26A6E0-548A-653C-472A-AD48A18C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9F048BB-8111-A176-63A8-A14FA8780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38090512-6403-9B2C-B2A1-D872AE6E9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>
              <a:lnSpc>
                <a:spcPts val="1425"/>
              </a:lnSpc>
              <a:buNone/>
            </a:pPr>
            <a:endParaRPr lang="de-DE" b="0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028100E3-3FBA-F39E-461C-D511BF3FD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60C61AAF-6D3A-F4F9-84D1-E57DA1F15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E822E6A-FB92-0F01-E964-7EF6BC061A02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F727B9A-064E-BA86-2905-095DAA5BFC20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70D191E-4101-990F-B276-92C2CEBEFABB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66BCA43-2AE4-20A6-32CD-6595D0570DB3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C2E8DA-DF96-D59D-5AC0-6621E133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17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39C532A-AA0B-4DE1-60B9-0A9B0BE5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5AD9A4-E79F-C493-F367-EB5EAFBC56CD}"/>
              </a:ext>
            </a:extLst>
          </p:cNvPr>
          <p:cNvSpPr txBox="1"/>
          <p:nvPr/>
        </p:nvSpPr>
        <p:spPr>
          <a:xfrm>
            <a:off x="800100" y="923028"/>
            <a:ext cx="812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Univers Condensed" panose="020B0506020202050204" pitchFamily="34" charset="0"/>
              </a:rPr>
              <a:t>Conclusion</a:t>
            </a:r>
            <a:endParaRPr lang="de-DE" sz="2400" dirty="0">
              <a:latin typeface="Univers Condensed" panose="020B050602020205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F8AF0D-810F-84BA-D6D2-C9EA02C257C3}"/>
              </a:ext>
            </a:extLst>
          </p:cNvPr>
          <p:cNvSpPr txBox="1"/>
          <p:nvPr/>
        </p:nvSpPr>
        <p:spPr>
          <a:xfrm>
            <a:off x="838200" y="1682750"/>
            <a:ext cx="680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mapping</a:t>
            </a:r>
            <a:r>
              <a:rPr lang="de-DE" dirty="0"/>
              <a:t> Process</a:t>
            </a:r>
            <a:r>
              <a:rPr lang="de-DE" baseline="30000" dirty="0"/>
              <a:t>1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Continuous</a:t>
            </a:r>
            <a:r>
              <a:rPr lang="de-DE" dirty="0"/>
              <a:t> Mapping: instant, fluid </a:t>
            </a:r>
            <a:r>
              <a:rPr lang="de-DE" dirty="0" err="1"/>
              <a:t>audio</a:t>
            </a:r>
            <a:r>
              <a:rPr lang="de-DE" dirty="0"/>
              <a:t> stream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Sound Design: Calm State = Calm Sound – non intrusive soundscapes to reinforce relaxation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Evidence-Based Systems: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Unwind System</a:t>
            </a:r>
            <a:r>
              <a:rPr lang="en-US" b="1" dirty="0"/>
              <a:t>:</a:t>
            </a:r>
            <a:r>
              <a:rPr lang="en-US" dirty="0"/>
              <a:t> uses nature sounds for feedback</a:t>
            </a:r>
            <a:r>
              <a:rPr lang="en-US" baseline="300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Muse™</a:t>
            </a:r>
            <a:r>
              <a:rPr lang="en-US" b="1" dirty="0"/>
              <a:t>: </a:t>
            </a:r>
            <a:r>
              <a:rPr lang="en-US" dirty="0"/>
              <a:t>uses real-time loops to increase stress awareness and control</a:t>
            </a:r>
            <a:r>
              <a:rPr lang="en-US" baseline="30000" dirty="0"/>
              <a:t>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B60397-A3F0-244B-2A79-6A30558F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52" y="-220813"/>
            <a:ext cx="3903044" cy="552138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193394-9EAC-1168-814D-75DF4093D23F}"/>
              </a:ext>
            </a:extLst>
          </p:cNvPr>
          <p:cNvSpPr txBox="1"/>
          <p:nvPr/>
        </p:nvSpPr>
        <p:spPr>
          <a:xfrm>
            <a:off x="8806308" y="5125176"/>
            <a:ext cx="3231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Musical Biofeedback Loop: Real-time </a:t>
            </a:r>
            <a:r>
              <a:rPr lang="de-DE" sz="1400" dirty="0" err="1"/>
              <a:t>translation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physiological</a:t>
            </a:r>
            <a:r>
              <a:rPr lang="de-DE" sz="1400" dirty="0"/>
              <a:t> </a:t>
            </a:r>
            <a:r>
              <a:rPr lang="de-DE" sz="1400" dirty="0" err="1"/>
              <a:t>rPPG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 </a:t>
            </a:r>
            <a:r>
              <a:rPr lang="de-DE" sz="1400" dirty="0" err="1"/>
              <a:t>into</a:t>
            </a:r>
            <a:r>
              <a:rPr lang="de-DE" sz="1400" dirty="0"/>
              <a:t> intuitive </a:t>
            </a:r>
            <a:r>
              <a:rPr lang="de-DE" sz="1400" dirty="0" err="1"/>
              <a:t>musical</a:t>
            </a:r>
            <a:r>
              <a:rPr lang="de-DE" sz="1400" dirty="0"/>
              <a:t> </a:t>
            </a:r>
            <a:r>
              <a:rPr lang="de-DE" sz="1400" dirty="0" err="1"/>
              <a:t>biofeedback</a:t>
            </a:r>
            <a:endParaRPr lang="de-DE" sz="1400" dirty="0"/>
          </a:p>
          <a:p>
            <a:r>
              <a:rPr lang="de-DE" sz="1400" dirty="0"/>
              <a:t>Source: Own </a:t>
            </a:r>
            <a:r>
              <a:rPr lang="de-DE" sz="1400" dirty="0" err="1"/>
              <a:t>illustration</a:t>
            </a:r>
            <a:endParaRPr lang="de-DE" sz="1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EA240D-640C-04B1-F857-0805978CFFA2}"/>
              </a:ext>
            </a:extLst>
          </p:cNvPr>
          <p:cNvSpPr txBox="1"/>
          <p:nvPr/>
        </p:nvSpPr>
        <p:spPr>
          <a:xfrm>
            <a:off x="916330" y="5719943"/>
            <a:ext cx="6467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[1] cf. </a:t>
            </a:r>
            <a:r>
              <a:rPr lang="de-DE" sz="1200" dirty="0">
                <a:solidFill>
                  <a:schemeClr val="dk1"/>
                </a:solidFill>
              </a:rPr>
              <a:t>dubus2013systematic [2] cf. yu2018unwind</a:t>
            </a:r>
            <a:r>
              <a:rPr lang="de-DE" sz="1200" dirty="0"/>
              <a:t> [3] cf.  </a:t>
            </a:r>
            <a:r>
              <a:rPr lang="de-DE" sz="1200" dirty="0">
                <a:solidFill>
                  <a:schemeClr val="dk1"/>
                </a:solidFill>
              </a:rPr>
              <a:t>app7121280</a:t>
            </a:r>
          </a:p>
        </p:txBody>
      </p:sp>
    </p:spTree>
    <p:extLst>
      <p:ext uri="{BB962C8B-B14F-4D97-AF65-F5344CB8AC3E}">
        <p14:creationId xmlns:p14="http://schemas.microsoft.com/office/powerpoint/2010/main" val="706893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90BC-855F-E434-C2C8-C606DADF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2F2059BF-A56B-0659-90BE-DAF712FC6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503537C-B530-29B4-1121-AD94CA880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F3521B0E-ACBB-AC50-B868-E56230AB0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FFFFFF"/>
                </a:solidFill>
                <a:latin typeface="Calisto MT"/>
              </a:rPr>
              <a:t>https://medium.com/@zurister/depth-wise-convolution-and-depth-wise-separable-convolution-37346565d4ec</a:t>
            </a: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976972E6-E84D-6ED3-E05B-2086988DF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A3A3EC5-09F2-473B-C801-D8C2D869C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9423A86-5398-D6D7-4304-6EFBD2E0E1B0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59F7A2B-DC69-10A2-2362-09293F9601C0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012F62A-5275-D0A6-D090-A3C4CE081F7C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8C6D42E-4235-9293-4475-355BAB4B24A7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0E13DB-6B23-F33E-7167-84A3D978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18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9F9885-FDFC-6D2D-9464-CDF56536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903C498-A6AC-04B9-AFB4-876EA1E6F33F}"/>
              </a:ext>
            </a:extLst>
          </p:cNvPr>
          <p:cNvSpPr txBox="1"/>
          <p:nvPr/>
        </p:nvSpPr>
        <p:spPr>
          <a:xfrm>
            <a:off x="800100" y="1117600"/>
            <a:ext cx="1040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Future Outlook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343F486-C7FD-966C-D7D3-623E40FA5D4D}"/>
              </a:ext>
            </a:extLst>
          </p:cNvPr>
          <p:cNvSpPr txBox="1"/>
          <p:nvPr/>
        </p:nvSpPr>
        <p:spPr>
          <a:xfrm>
            <a:off x="838200" y="1701800"/>
            <a:ext cx="10734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Potential: Monitor stress at </a:t>
            </a:r>
            <a:r>
              <a:rPr lang="de-DE" dirty="0" err="1"/>
              <a:t>work</a:t>
            </a:r>
            <a:r>
              <a:rPr lang="de-DE" dirty="0"/>
              <a:t> (</a:t>
            </a:r>
            <a:r>
              <a:rPr lang="de-DE" dirty="0" err="1"/>
              <a:t>office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Trend: Small AI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laptops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mobiles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Efficiency: </a:t>
            </a:r>
            <a:r>
              <a:rPr lang="de-DE" dirty="0" err="1"/>
              <a:t>Cost-effective</a:t>
            </a:r>
            <a:r>
              <a:rPr lang="de-DE" dirty="0"/>
              <a:t> (simple </a:t>
            </a:r>
            <a:r>
              <a:rPr lang="de-DE" dirty="0" err="1"/>
              <a:t>camera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Privacy: High </a:t>
            </a:r>
            <a:r>
              <a:rPr lang="de-DE" dirty="0" err="1"/>
              <a:t>risk</a:t>
            </a:r>
            <a:r>
              <a:rPr lang="de-DE" dirty="0"/>
              <a:t>!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(</a:t>
            </a:r>
            <a:r>
              <a:rPr lang="de-DE" dirty="0" err="1"/>
              <a:t>No</a:t>
            </a:r>
            <a:r>
              <a:rPr lang="de-DE" dirty="0"/>
              <a:t> Cloud)</a:t>
            </a:r>
          </a:p>
        </p:txBody>
      </p:sp>
    </p:spTree>
    <p:extLst>
      <p:ext uri="{BB962C8B-B14F-4D97-AF65-F5344CB8AC3E}">
        <p14:creationId xmlns:p14="http://schemas.microsoft.com/office/powerpoint/2010/main" val="161023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D0FE-D3C8-5C20-762F-CE1619A6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DEC633D9-E60D-7871-30A3-3CC89E02A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07A877E-E6BE-BBD6-D86D-2A631CE28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9C311818-375A-8C32-E4F1-6427DEC85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FFFFFF"/>
                </a:solidFill>
                <a:latin typeface="Calisto MT"/>
              </a:rPr>
              <a:t>https://medium.com/@zurister/depth-wise-convolution-and-depth-wise-separable-convolution-37346565d4ec</a:t>
            </a: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4F1B8D68-9A73-AAB8-3AC6-E9618EB50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06629F9D-E9E4-210D-D36A-3D8D0DF6A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190E445-EBFF-1765-E8C0-1C6391A772B4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A4C2AB2-B7F9-42D7-4623-749F7F9D07F9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76A4F96-007D-E812-E87E-D235AEC19E85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41ABCAA-7D44-CF8A-93EA-64C5387ADF4D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5314D9-C350-4681-4A62-E19605AA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19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BA2AAC-3F84-2D45-1AC3-5A8DB7CE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81389B9-C625-9F37-D717-18797CF0D2BC}"/>
              </a:ext>
            </a:extLst>
          </p:cNvPr>
          <p:cNvSpPr txBox="1"/>
          <p:nvPr/>
        </p:nvSpPr>
        <p:spPr>
          <a:xfrm>
            <a:off x="800100" y="1098550"/>
            <a:ext cx="1040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Univers Condensed" panose="020B0506020202050204" pitchFamily="34" charset="0"/>
              </a:rPr>
              <a:t>References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34905C96-C45C-84BD-184A-D6208950B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7059"/>
              </p:ext>
            </p:extLst>
          </p:nvPr>
        </p:nvGraphicFramePr>
        <p:xfrm>
          <a:off x="638174" y="1934861"/>
          <a:ext cx="11249025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826">
                  <a:extLst>
                    <a:ext uri="{9D8B030D-6E8A-4147-A177-3AD203B41FA5}">
                      <a16:colId xmlns:a16="http://schemas.microsoft.com/office/drawing/2014/main" val="1754672563"/>
                    </a:ext>
                  </a:extLst>
                </a:gridCol>
                <a:gridCol w="8331199">
                  <a:extLst>
                    <a:ext uri="{9D8B030D-6E8A-4147-A177-3AD203B41FA5}">
                      <a16:colId xmlns:a16="http://schemas.microsoft.com/office/drawing/2014/main" val="3586888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75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Mcewen2017neurobiology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S. McEwen, “Neurobiological and systemic effects of chronic stress,” Chronic Stress, vol. 1, p. 2470547017692328, 2017.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54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giggins2013biofeedback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O. M. </a:t>
                      </a:r>
                      <a:r>
                        <a:rPr lang="en-US" dirty="0" err="1"/>
                        <a:t>Giggins</a:t>
                      </a:r>
                      <a:r>
                        <a:rPr lang="en-US" dirty="0"/>
                        <a:t>, U. M. Persson, and B. Caulfield, “Biofeedback in rehabilitation,” Journal of Neuro Engineering and Rehabilitation, vol. 10, no. 1, p. 60, 2013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5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verkruysse2008remote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W. </a:t>
                      </a:r>
                      <a:r>
                        <a:rPr lang="de-DE" dirty="0" err="1"/>
                        <a:t>Verkruysse</a:t>
                      </a:r>
                      <a:r>
                        <a:rPr lang="de-DE" dirty="0"/>
                        <a:t>, L. O. </a:t>
                      </a:r>
                      <a:r>
                        <a:rPr lang="de-DE" dirty="0" err="1"/>
                        <a:t>Svaasand</a:t>
                      </a:r>
                      <a:r>
                        <a:rPr lang="de-DE" dirty="0"/>
                        <a:t>, and J. S. Nelson, “Remote </a:t>
                      </a:r>
                      <a:r>
                        <a:rPr lang="de-DE" dirty="0" err="1"/>
                        <a:t>plethysmographic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imaging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using</a:t>
                      </a:r>
                      <a:r>
                        <a:rPr lang="de-DE" dirty="0"/>
                        <a:t> ambient light,” </a:t>
                      </a:r>
                      <a:r>
                        <a:rPr lang="de-DE" dirty="0" err="1"/>
                        <a:t>Optics</a:t>
                      </a:r>
                      <a:r>
                        <a:rPr lang="de-DE" dirty="0"/>
                        <a:t> Express, vol. 16,no. 26, pp. 21 466–21 475, 2008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3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shaffer2017overview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F. Shaffer and J. Ginsberg, “An overview of heart rate variability metrics and norms,” Frontiers in Public Health, vol. 5, p. 258, 2017.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8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253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DB2F-D011-5952-D2DE-3B1EFD3B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EACDAAB7-5832-05EB-7196-D0D7C24B4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CA69B9-D9E0-3F2E-F32B-9F08F6D94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200E9ACC-0EEC-4BB2-31A2-1BF365F00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FFFFFF"/>
                </a:solidFill>
                <a:latin typeface="Calisto MT"/>
              </a:rPr>
              <a:t>https://medium.com/@zurister/depth-wise-convolution-and-depth-wise-separable-convolution-37346565d4ec</a:t>
            </a: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2C12F502-3E4A-7A0C-C026-F9418148A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1914ACFE-2CC6-7587-F29B-C125E5C8E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59EF5D3-C926-C52F-74FB-455FDC49B98A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758CBAD-4FBD-787E-83F3-7DFF852F4A2F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9CB86BD-F104-4F05-21B2-FE7DF0C606A8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5293C33-0C04-0B79-7913-ED601006B605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E587F2-48C7-5468-57FA-8A88F58B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20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82BFDE9-A13A-510C-4270-F9A93816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E178409B-68B3-9D7B-90B8-B07D9A4CB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75413"/>
              </p:ext>
            </p:extLst>
          </p:nvPr>
        </p:nvGraphicFramePr>
        <p:xfrm>
          <a:off x="542924" y="915592"/>
          <a:ext cx="1124902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826">
                  <a:extLst>
                    <a:ext uri="{9D8B030D-6E8A-4147-A177-3AD203B41FA5}">
                      <a16:colId xmlns:a16="http://schemas.microsoft.com/office/drawing/2014/main" val="1754672563"/>
                    </a:ext>
                  </a:extLst>
                </a:gridCol>
                <a:gridCol w="8331199">
                  <a:extLst>
                    <a:ext uri="{9D8B030D-6E8A-4147-A177-3AD203B41FA5}">
                      <a16:colId xmlns:a16="http://schemas.microsoft.com/office/drawing/2014/main" val="3586888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75094"/>
                  </a:ext>
                </a:extLst>
              </a:tr>
              <a:tr h="1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dehaan2013chrom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 Debnath and S. Kim, “A comprehensive review of heartrate measurement using remote photoplethysmography and deep learning,” </a:t>
                      </a:r>
                      <a:r>
                        <a:rPr lang="en-US" dirty="0" err="1"/>
                        <a:t>BioMedical</a:t>
                      </a:r>
                      <a:r>
                        <a:rPr lang="en-US" dirty="0"/>
                        <a:t> Engineering </a:t>
                      </a:r>
                      <a:r>
                        <a:rPr lang="en-US" dirty="0" err="1"/>
                        <a:t>OnLine</a:t>
                      </a:r>
                      <a:r>
                        <a:rPr lang="en-US" dirty="0"/>
                        <a:t>, vol. 24, no. 1, p. 73, 2025.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54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lehrer2014heart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P. M. Lehrer and R. Gevirtz, “Heart rate variability </a:t>
                      </a:r>
                      <a:r>
                        <a:rPr lang="en-US" dirty="0" err="1"/>
                        <a:t>biofeedback:how</a:t>
                      </a:r>
                      <a:r>
                        <a:rPr lang="en-US" dirty="0"/>
                        <a:t> and why does it work?” Frontiers in Psychology, vol. 5, p. 756,2014.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3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bishop2004mindfulness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S. R. Bishop, M. Lau, S. Shapiro, L. Carlson, N. D. </a:t>
                      </a:r>
                      <a:r>
                        <a:rPr lang="de-DE" dirty="0" err="1"/>
                        <a:t>Anderson,J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Carmody</a:t>
                      </a:r>
                      <a:r>
                        <a:rPr lang="de-DE" dirty="0"/>
                        <a:t>, Z. V. Segal, S. Abbey, M. </a:t>
                      </a:r>
                      <a:r>
                        <a:rPr lang="de-DE" dirty="0" err="1"/>
                        <a:t>Speca</a:t>
                      </a:r>
                      <a:r>
                        <a:rPr lang="de-DE" dirty="0"/>
                        <a:t>, D. </a:t>
                      </a:r>
                      <a:r>
                        <a:rPr lang="de-DE" dirty="0" err="1"/>
                        <a:t>Velting</a:t>
                      </a:r>
                      <a:r>
                        <a:rPr lang="de-DE" dirty="0"/>
                        <a:t> et al., “</a:t>
                      </a:r>
                      <a:r>
                        <a:rPr lang="de-DE" dirty="0" err="1"/>
                        <a:t>Mindfulness</a:t>
                      </a:r>
                      <a:r>
                        <a:rPr lang="de-DE" dirty="0"/>
                        <a:t>: A </a:t>
                      </a:r>
                      <a:r>
                        <a:rPr lang="de-DE" dirty="0" err="1"/>
                        <a:t>proposed</a:t>
                      </a:r>
                      <a:r>
                        <a:rPr lang="de-DE" dirty="0"/>
                        <a:t> operational </a:t>
                      </a:r>
                      <a:r>
                        <a:rPr lang="de-DE" dirty="0" err="1"/>
                        <a:t>definition</a:t>
                      </a:r>
                      <a:r>
                        <a:rPr lang="de-DE" dirty="0"/>
                        <a:t>,” Clinical </a:t>
                      </a:r>
                      <a:r>
                        <a:rPr lang="de-DE" dirty="0" err="1"/>
                        <a:t>Psychology:Science</a:t>
                      </a:r>
                      <a:r>
                        <a:rPr lang="de-DE" dirty="0"/>
                        <a:t> and Practice, vol. 11, </a:t>
                      </a:r>
                      <a:r>
                        <a:rPr lang="de-DE" dirty="0" err="1"/>
                        <a:t>no</a:t>
                      </a:r>
                      <a:r>
                        <a:rPr lang="de-DE" dirty="0"/>
                        <a:t>. 3, pp. 230–241, 2004.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91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796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575E-8A71-3DF4-A20B-7D9DE01F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8C48748B-192F-7AB7-FD40-28179B6E1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DA7254F-3A55-A082-5E5D-08A70B4BB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BE6EE4BB-A04F-992A-57C8-CEE36F5D4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FFFFFF"/>
                </a:solidFill>
                <a:latin typeface="Calisto MT"/>
              </a:rPr>
              <a:t>https://medium.com/@zurister/depth-wise-convolution-and-depth-wise-separable-convolution-37346565d4ec</a:t>
            </a: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2E020772-176F-02F3-5243-040D7D0C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773B0413-A59F-9B11-1521-F648AC503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1100AD9-DB81-BCE1-9195-0D6682454F91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6C1166A-3B90-BFDB-449D-CD36E677BB7F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61334BB-0B71-5DF4-B036-1B569BC2E8DA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ED8DBC6-C0C2-10DB-27D5-2E5531B2510B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433BEB-ED30-1C10-7487-47531564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21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152D66-ABDD-7B7E-AF40-9636070E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942D47BB-8819-1F94-34D0-1295F9D60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497325"/>
              </p:ext>
            </p:extLst>
          </p:nvPr>
        </p:nvGraphicFramePr>
        <p:xfrm>
          <a:off x="542924" y="915592"/>
          <a:ext cx="11249025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826">
                  <a:extLst>
                    <a:ext uri="{9D8B030D-6E8A-4147-A177-3AD203B41FA5}">
                      <a16:colId xmlns:a16="http://schemas.microsoft.com/office/drawing/2014/main" val="1754672563"/>
                    </a:ext>
                  </a:extLst>
                </a:gridCol>
                <a:gridCol w="8331199">
                  <a:extLst>
                    <a:ext uri="{9D8B030D-6E8A-4147-A177-3AD203B41FA5}">
                      <a16:colId xmlns:a16="http://schemas.microsoft.com/office/drawing/2014/main" val="3586888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75094"/>
                  </a:ext>
                </a:extLst>
              </a:tr>
              <a:tr h="1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app7121280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M. Balconi, D. Crivelli, G. Fronda, and I. Venturella, “Conscious, pre-conscious and unconscious mechanisms in emotional </a:t>
                      </a:r>
                      <a:r>
                        <a:rPr lang="en-US" dirty="0" err="1"/>
                        <a:t>behaviour</a:t>
                      </a:r>
                      <a:r>
                        <a:rPr lang="en-US" dirty="0"/>
                        <a:t>. some applications to the mindfulness approach </a:t>
                      </a:r>
                      <a:r>
                        <a:rPr lang="en-US" dirty="0" err="1"/>
                        <a:t>withwearable</a:t>
                      </a:r>
                      <a:r>
                        <a:rPr lang="en-US" dirty="0"/>
                        <a:t> devices,” Applied Sciences, vol. 7, no. 12, 2017. [Online].Available: https://www.mdpi.com/2076-3417/7/12/1280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54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yu2018unwind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B. </a:t>
                      </a:r>
                      <a:r>
                        <a:rPr lang="de-DE" dirty="0" err="1"/>
                        <a:t>Yu</a:t>
                      </a:r>
                      <a:r>
                        <a:rPr lang="de-DE" dirty="0"/>
                        <a:t>, M. Funk, J. Hu, and L. </a:t>
                      </a:r>
                      <a:r>
                        <a:rPr lang="de-DE" dirty="0" err="1"/>
                        <a:t>Feijs</a:t>
                      </a:r>
                      <a:r>
                        <a:rPr lang="de-DE" dirty="0"/>
                        <a:t>, “</a:t>
                      </a:r>
                      <a:r>
                        <a:rPr lang="de-DE" dirty="0" err="1"/>
                        <a:t>Unwind</a:t>
                      </a:r>
                      <a:r>
                        <a:rPr lang="de-DE" dirty="0"/>
                        <a:t>: a </a:t>
                      </a:r>
                      <a:r>
                        <a:rPr lang="de-DE" dirty="0" err="1"/>
                        <a:t>musical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biofeedback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for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relaxation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assistance</a:t>
                      </a:r>
                      <a:r>
                        <a:rPr lang="de-DE" dirty="0"/>
                        <a:t>,” </a:t>
                      </a:r>
                      <a:r>
                        <a:rPr lang="de-DE" dirty="0" err="1"/>
                        <a:t>Behaviour</a:t>
                      </a:r>
                      <a:r>
                        <a:rPr lang="de-DE" dirty="0"/>
                        <a:t> &amp; Information Technology, vol. 37, </a:t>
                      </a:r>
                      <a:r>
                        <a:rPr lang="de-DE" dirty="0" err="1"/>
                        <a:t>no</a:t>
                      </a:r>
                      <a:r>
                        <a:rPr lang="de-DE" dirty="0"/>
                        <a:t>. 8, pp. 800–814, 2018. [Online]. </a:t>
                      </a:r>
                      <a:r>
                        <a:rPr lang="de-DE" dirty="0" err="1"/>
                        <a:t>Available</a:t>
                      </a:r>
                      <a:r>
                        <a:rPr lang="de-DE" dirty="0"/>
                        <a:t>: https://doi.org/10.1080/0144929X.2018.1484515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5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dubus2013systematic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G. Dubus and R. Bresin, “A systematic review of mapping strategies for the sonification of physical quantities,” </a:t>
                      </a:r>
                      <a:r>
                        <a:rPr lang="en-US" dirty="0" err="1"/>
                        <a:t>PLoS</a:t>
                      </a:r>
                      <a:r>
                        <a:rPr lang="en-US" dirty="0"/>
                        <a:t> ONE, vol. 8,no. 12, p. e82491, 2013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3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poh2010non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M.-Z. Poh, D. J. McDuff, and R. W. Picard, “Non-contact, automated cardiac pulse measurements using video imaging </a:t>
                      </a:r>
                      <a:r>
                        <a:rPr lang="en-US" dirty="0" err="1"/>
                        <a:t>andblind</a:t>
                      </a:r>
                      <a:r>
                        <a:rPr lang="en-US" dirty="0"/>
                        <a:t> source separation,” Optics Express, vol. 18, no. 10, pp. 10 762–10 774, 2010.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8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265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6DA4-4BC7-160C-E00C-664F8DFD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2A7210DA-9405-9955-A3DE-BE8F6284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10591796" cy="0"/>
          </a:xfrm>
          <a:prstGeom prst="straightConnector1">
            <a:avLst/>
          </a:prstGeom>
          <a:noFill/>
          <a:ln w="44448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910AAB6-606F-AFCD-5FC2-67875CB61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2783"/>
            <a:ext cx="1059179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Rectangle 12">
            <a:extLst>
              <a:ext uri="{FF2B5EF4-FFF2-40B4-BE49-F238E27FC236}">
                <a16:creationId xmlns:a16="http://schemas.microsoft.com/office/drawing/2014/main" id="{E5EDC257-E494-1115-64EC-CD04D32EB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FFFFFF"/>
                </a:solidFill>
                <a:latin typeface="Calisto MT"/>
              </a:rPr>
              <a:t>https://medium.com/@zurister/depth-wise-convolution-and-depth-wise-separable-convolution-37346565d4ec</a:t>
            </a:r>
            <a:endParaRPr lang="en-US" sz="1800" b="0" i="0" u="none" strike="noStrike" kern="1200" cap="none" spc="0" baseline="0" dirty="0">
              <a:solidFill>
                <a:srgbClr val="FFFFFF"/>
              </a:solidFill>
              <a:uFillTx/>
              <a:latin typeface="Calisto MT"/>
            </a:endParaRPr>
          </a:p>
        </p:txBody>
      </p: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7B232051-50BB-9364-4C91-BE23400D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723903"/>
            <a:ext cx="6583680" cy="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1462708-1DEB-2195-DC9B-2E14C03C8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800100" y="6144768"/>
            <a:ext cx="6583680" cy="0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AEE1450-0172-FD73-6EE3-07F4D9B31BC6}"/>
              </a:ext>
            </a:extLst>
          </p:cNvPr>
          <p:cNvCxnSpPr>
            <a:cxnSpLocks/>
          </p:cNvCxnSpPr>
          <p:nvPr/>
        </p:nvCxnSpPr>
        <p:spPr>
          <a:xfrm>
            <a:off x="800100" y="614278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098D9A3-385F-40BD-78CA-8C7AF507A9DA}"/>
              </a:ext>
            </a:extLst>
          </p:cNvPr>
          <p:cNvCxnSpPr/>
          <p:nvPr/>
        </p:nvCxnSpPr>
        <p:spPr>
          <a:xfrm>
            <a:off x="7383780" y="723903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5BC87CD-7F18-BAB2-18D0-2DCDD9CAF7DE}"/>
              </a:ext>
            </a:extLst>
          </p:cNvPr>
          <p:cNvCxnSpPr>
            <a:cxnSpLocks/>
          </p:cNvCxnSpPr>
          <p:nvPr/>
        </p:nvCxnSpPr>
        <p:spPr>
          <a:xfrm>
            <a:off x="800100" y="723903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C4CA7C0-084B-39F9-E5B8-29F62B3E2BE2}"/>
              </a:ext>
            </a:extLst>
          </p:cNvPr>
          <p:cNvCxnSpPr>
            <a:cxnSpLocks/>
          </p:cNvCxnSpPr>
          <p:nvPr/>
        </p:nvCxnSpPr>
        <p:spPr>
          <a:xfrm>
            <a:off x="800100" y="704011"/>
            <a:ext cx="107346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FC619E-603C-95FE-87C4-8F2E8014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2DAD4-8B56-4CFC-86F2-2DF0F20B40CA}" type="slidenum">
              <a:rPr lang="de-DE" smtClean="0"/>
              <a:t>22</a:t>
            </a:fld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18A74A-2892-0925-D9FA-493F782B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20.05.2026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3D97378E-BE95-F381-1B2A-7897DD124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84712"/>
              </p:ext>
            </p:extLst>
          </p:nvPr>
        </p:nvGraphicFramePr>
        <p:xfrm>
          <a:off x="542924" y="915592"/>
          <a:ext cx="11249025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826">
                  <a:extLst>
                    <a:ext uri="{9D8B030D-6E8A-4147-A177-3AD203B41FA5}">
                      <a16:colId xmlns:a16="http://schemas.microsoft.com/office/drawing/2014/main" val="1754672563"/>
                    </a:ext>
                  </a:extLst>
                </a:gridCol>
                <a:gridCol w="8331199">
                  <a:extLst>
                    <a:ext uri="{9D8B030D-6E8A-4147-A177-3AD203B41FA5}">
                      <a16:colId xmlns:a16="http://schemas.microsoft.com/office/drawing/2014/main" val="3586888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75094"/>
                  </a:ext>
                </a:extLst>
              </a:tr>
              <a:tr h="1570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lempe2013roi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G. Lempe, S. Zaunseder, T. Wirth, S. Eck, and H. Malberg, “Roi </a:t>
                      </a:r>
                      <a:r>
                        <a:rPr lang="de-DE" dirty="0" err="1"/>
                        <a:t>selection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for</a:t>
                      </a:r>
                      <a:r>
                        <a:rPr lang="de-DE" dirty="0"/>
                        <a:t> remote </a:t>
                      </a:r>
                      <a:r>
                        <a:rPr lang="de-DE" dirty="0" err="1"/>
                        <a:t>photoplethysmography</a:t>
                      </a:r>
                      <a:r>
                        <a:rPr lang="de-DE" dirty="0"/>
                        <a:t>,” in 2013 International Conference on Information Technology and </a:t>
                      </a:r>
                      <a:r>
                        <a:rPr lang="de-DE" dirty="0" err="1"/>
                        <a:t>Applications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Biomedicine</a:t>
                      </a:r>
                      <a:r>
                        <a:rPr lang="de-DE" dirty="0"/>
                        <a:t>(ITAB). IEEE, 2013, pp. 1–4.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54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Debnath25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U. Debnath and S. Kim, “A comprehensive review of heartrate measurement using remote photoplethysmography and deep learning,” </a:t>
                      </a:r>
                      <a:r>
                        <a:rPr lang="en-US" dirty="0" err="1"/>
                        <a:t>BioMedical</a:t>
                      </a:r>
                      <a:r>
                        <a:rPr lang="en-US" dirty="0"/>
                        <a:t> Engineering </a:t>
                      </a:r>
                      <a:r>
                        <a:rPr lang="en-US" dirty="0" err="1"/>
                        <a:t>OnLine</a:t>
                      </a:r>
                      <a:r>
                        <a:rPr lang="en-US" dirty="0"/>
                        <a:t>, vol. 24, no. 1, p. 73, 2025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58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885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2122</Words>
  <Application>Microsoft Office PowerPoint</Application>
  <PresentationFormat>Breitbild</PresentationFormat>
  <Paragraphs>267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Calisto MT</vt:lpstr>
      <vt:lpstr>Consolas</vt:lpstr>
      <vt:lpstr>Univers Condensed</vt:lpstr>
      <vt:lpstr>Office</vt:lpstr>
      <vt:lpstr>The role of remote Photoplethysmography in Musical Biofeedback Systems for Stress Reduction and Consciousness Regulation</vt:lpstr>
      <vt:lpstr> Structure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Winkelmann</dc:creator>
  <cp:lastModifiedBy>fwinkelmann1</cp:lastModifiedBy>
  <cp:revision>439</cp:revision>
  <dcterms:created xsi:type="dcterms:W3CDTF">2025-05-12T07:03:43Z</dcterms:created>
  <dcterms:modified xsi:type="dcterms:W3CDTF">2026-05-18T07:55:02Z</dcterms:modified>
</cp:coreProperties>
</file>