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7" r:id="rId2"/>
    <p:sldId id="264" r:id="rId3"/>
    <p:sldId id="338" r:id="rId4"/>
    <p:sldId id="320" r:id="rId5"/>
    <p:sldId id="331" r:id="rId6"/>
    <p:sldId id="339" r:id="rId7"/>
    <p:sldId id="326" r:id="rId8"/>
    <p:sldId id="321" r:id="rId9"/>
    <p:sldId id="355" r:id="rId10"/>
    <p:sldId id="350" r:id="rId11"/>
    <p:sldId id="349" r:id="rId12"/>
    <p:sldId id="351" r:id="rId13"/>
    <p:sldId id="340" r:id="rId14"/>
    <p:sldId id="352" r:id="rId15"/>
    <p:sldId id="342" r:id="rId16"/>
    <p:sldId id="341" r:id="rId17"/>
    <p:sldId id="332" r:id="rId18"/>
    <p:sldId id="353" r:id="rId19"/>
    <p:sldId id="333" r:id="rId20"/>
    <p:sldId id="334" r:id="rId21"/>
    <p:sldId id="354" r:id="rId22"/>
    <p:sldId id="335" r:id="rId23"/>
    <p:sldId id="336" r:id="rId24"/>
    <p:sldId id="337" r:id="rId25"/>
    <p:sldId id="306" r:id="rId26"/>
    <p:sldId id="343" r:id="rId27"/>
    <p:sldId id="344" r:id="rId28"/>
    <p:sldId id="346" r:id="rId29"/>
    <p:sldId id="345" r:id="rId30"/>
    <p:sldId id="348" r:id="rId3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774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DC3644-25D8-4871-93A8-F31DA460785B}" type="datetimeFigureOut">
              <a:rPr lang="de-DE" smtClean="0"/>
              <a:t>21.04.2026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DF7A68-AB40-4225-956B-FCB71A2FDA6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89447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104A9EE-6A5C-A4F9-DF29-86DB2B2B05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0CE40BE-57F6-AEE3-F857-3DA0827A2BB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67BCF5-5532-3185-7D24-18FDDBD95C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9F25812-FABA-1394-C8CD-33A17739F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01C03EC-B395-E395-996A-B1350F90E1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821082" y="6356349"/>
            <a:ext cx="549835" cy="365125"/>
          </a:xfrm>
        </p:spPr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362262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50AE90-EA48-0218-6ED4-B7EE2A660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391C510-7D52-0EF6-9C26-6585B098F0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7E16302-2EEF-316E-EB19-E21C0D691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01B6A6-0BF4-3CEC-FD4F-3BF72086D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6EFF05F-6BFE-94A0-41FD-BD820E5EB0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17386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A897A-31D6-A10B-3B48-6B2441B5AB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30B2182-3300-5344-CABE-02874B57DB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D433FF8-E433-370E-986C-4806876CF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D317DDF-6C50-C4ED-F430-A5DB40C49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B6473FC-5ECE-9B71-18E9-B3D9FFAD1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034211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909BC3-9FB1-3EFD-19F3-BA60FD603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12B300D-3EF2-A341-0F16-7905672B2E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E3B0788-7467-E756-4B6D-ADD13B205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17CB7965-7E56-656D-5003-12DF025E4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B893F52E-04B5-12AB-F3A6-481D14A6B9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BEDE022-4BEF-5F45-4D37-72B9E4CD21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39379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353EA12-7514-6416-9494-C6F3FD091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447022B-75A6-CCCB-0215-654A031A5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21D498E9-CD85-CC0E-D93C-00DEB70679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2AA8D9A-E124-EDB0-F30F-2F4F9611BF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01AD9684-B985-5467-6ED0-844DDAE95BE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FF48107-4F37-2A3C-45FF-3AEAEBCCC7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71DAB571-FD2B-753A-AB94-99F26F07A3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E82174B4-DA26-97B4-911A-1ACB13863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14475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AB4665-3DC0-2989-8643-5BEDE71BA2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A55AB03-308F-6AE8-56B6-D9CCFC395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E76FE0-64DF-C20C-6984-EC0214CA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1B2E0C-B3E8-5BBE-D7EE-D2208FDE3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19040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762BEBDA-AAFC-67A6-F6AE-0A50FD15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3D2199-2F2C-AB59-C9CA-36D54046C1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8A44891-9DBD-CCCE-C083-A20BD5A26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82729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289E30-8622-08EC-5320-2D305C6DA7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EC5F6C4-98EC-F9F1-CE4C-0248DAD2F0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35683E7-BBE2-E1E2-B34A-C854F29DE8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AB22B6A-A1AE-4CE7-F2C1-250611F75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F750107F-07FF-7990-31B5-37D9E7F62E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ACDA5BD7-1459-6D21-2623-282F86A85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499297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69B6F6-B6E7-1332-0217-06B9F1A0E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7EC2484-8D8D-5E91-D189-79D69D12D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CFCD5A8-E21C-7D1B-8868-CADD42F245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3A76B68-3339-DF06-3202-EE40BAE5F3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67DEFBC-93F1-D71E-04B1-03C5AF5F70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C2BB918-5CB2-4E63-DD7D-4634863898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60114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F60CA0-9104-A8E4-1810-4452322C1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C048CE8-CBF0-C061-6B87-16EBD49959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0A6F999-BB66-B908-1366-D0B9EC37E7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8E572DD-590C-67E3-D770-DA8F31CFF9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46C0F0-AAF5-C7D0-8C43-D834BA6DD1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0569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3605725-8575-2A46-96F9-0612375DA95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53396054-0729-C41F-695E-F38FC1F01C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B4EE3C1E-8B2B-D162-D506-24941C943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0F64D7-0619-BCB8-D5C0-87BBE12B46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3F750D7C-752B-5A73-D695-E06074EAB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242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1200439D-1B78-24FF-66F4-E031BC0CCA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F22E802B-53FF-6383-956A-AEA1DCF558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A0FE4FE-F10B-97B0-1CDB-D1A6067841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de-DE"/>
              <a:t>23.01.2026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4D31113-BD3F-6840-71A2-26381B86A1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4CA81EF-8CA6-902F-49EE-F90ECD0086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8200" y="63563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332DAD4-8B56-4CFC-86F2-2DF0F20B40CA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3403990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A8051C11-D947-505F-1FFB-C0CA00DF8B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40718A9-F879-CC15-7EBF-2BA25A8584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CA40C6BB-EDBF-D8C8-7705-29F1BA4268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0" i="0" u="none" strike="noStrike" kern="1200" cap="none" spc="0" baseline="0" dirty="0" err="1">
                <a:solidFill>
                  <a:srgbClr val="FFFFFF"/>
                </a:solidFill>
                <a:uFillTx/>
                <a:latin typeface="Calisto MT"/>
              </a:rPr>
              <a:t>Univers</a:t>
            </a:r>
            <a:r>
              <a:rPr lang="en-US" sz="1800" b="0" i="0" u="none" strike="noStrike" kern="1200" cap="none" spc="0" baseline="0" dirty="0">
                <a:solidFill>
                  <a:srgbClr val="FFFFFF"/>
                </a:solidFill>
                <a:uFillTx/>
                <a:latin typeface="Calisto MT"/>
              </a:rPr>
              <a:t> Condensed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388A2E8D-04AA-2574-9467-1E670ED77FC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00100" y="136378"/>
            <a:ext cx="6766560" cy="3134865"/>
          </a:xfrm>
        </p:spPr>
        <p:txBody>
          <a:bodyPr>
            <a:noAutofit/>
          </a:bodyPr>
          <a:lstStyle/>
          <a:p>
            <a:pPr lvl="0" algn="l"/>
            <a:r>
              <a:rPr lang="en-US" sz="3200" dirty="0">
                <a:latin typeface="Univers Condensed" panose="020B0506020202050204" pitchFamily="34" charset="0"/>
              </a:rPr>
              <a:t>The role of remote Photoplethysmography in Musical Biofeedback Systems for Stress Reduction and Consciousness Regulation</a:t>
            </a: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CB563F3D-A2F1-1AE6-F361-B62A4BDC0A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76AA11AB-EC5B-7FEC-3554-BC618AE10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pic>
        <p:nvPicPr>
          <p:cNvPr id="9" name="Picture 3">
            <a:extLst>
              <a:ext uri="{FF2B5EF4-FFF2-40B4-BE49-F238E27FC236}">
                <a16:creationId xmlns:a16="http://schemas.microsoft.com/office/drawing/2014/main" id="{293641AD-FA86-3182-D819-F282DC10DA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49" r="26406"/>
          <a:stretch>
            <a:fillRect/>
          </a:stretch>
        </p:blipFill>
        <p:spPr>
          <a:xfrm>
            <a:off x="8115300" y="9"/>
            <a:ext cx="4076696" cy="685799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6D7377D0-1D46-0948-19AD-0AE6232185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</a:t>
            </a:fld>
            <a:endParaRPr lang="de-DE"/>
          </a:p>
        </p:txBody>
      </p:sp>
      <p:sp>
        <p:nvSpPr>
          <p:cNvPr id="10" name="Datumsplatzhalter 9">
            <a:extLst>
              <a:ext uri="{FF2B5EF4-FFF2-40B4-BE49-F238E27FC236}">
                <a16:creationId xmlns:a16="http://schemas.microsoft.com/office/drawing/2014/main" id="{B34EE5DE-6F60-BA21-C608-3CC8021B2E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23.01.2026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50F59973-162A-4B58-81E0-2CFB50C2231D}"/>
              </a:ext>
            </a:extLst>
          </p:cNvPr>
          <p:cNvSpPr txBox="1"/>
          <p:nvPr/>
        </p:nvSpPr>
        <p:spPr>
          <a:xfrm>
            <a:off x="4521198" y="4413250"/>
            <a:ext cx="314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Fabian Winkelmann</a:t>
            </a:r>
          </a:p>
          <a:p>
            <a:r>
              <a:rPr lang="de-DE" dirty="0"/>
              <a:t>Student ID: 1284247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AF3E2-54A5-F489-018D-3722C007E2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0FDF5138-A387-00E7-7201-E8A7BB9F27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E429836A-65F0-4D6C-B769-AA4B2BD5FE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C08C45E2-44D2-AA9C-C93C-9513145737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800" b="0" i="0" u="none" strike="noStrike" kern="1200" cap="none" spc="0" baseline="0" dirty="0" err="1">
                <a:solidFill>
                  <a:srgbClr val="FFFFFF"/>
                </a:solidFill>
                <a:uFillTx/>
                <a:latin typeface="Calisto MT"/>
              </a:rPr>
              <a:t>Univers</a:t>
            </a:r>
            <a:r>
              <a:rPr lang="en-US" sz="1800" b="0" i="0" u="none" strike="noStrike" kern="1200" cap="none" spc="0" baseline="0" dirty="0">
                <a:solidFill>
                  <a:srgbClr val="FFFFFF"/>
                </a:solidFill>
                <a:uFillTx/>
                <a:latin typeface="Calisto MT"/>
              </a:rPr>
              <a:t> Condensed</a:t>
            </a: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3A78007A-02F8-BD65-E3B9-A360B0CC92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A298F603-5651-59E6-6310-F0565DE8E5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11" name="Textfeld 10">
            <a:extLst>
              <a:ext uri="{FF2B5EF4-FFF2-40B4-BE49-F238E27FC236}">
                <a16:creationId xmlns:a16="http://schemas.microsoft.com/office/drawing/2014/main" id="{F6FBAB14-CDB9-5F4D-7219-33B2C1AB19AB}"/>
              </a:ext>
            </a:extLst>
          </p:cNvPr>
          <p:cNvSpPr txBox="1"/>
          <p:nvPr/>
        </p:nvSpPr>
        <p:spPr>
          <a:xfrm>
            <a:off x="800100" y="1809512"/>
            <a:ext cx="857761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DE" sz="2000" dirty="0" err="1"/>
              <a:t>Introduction</a:t>
            </a:r>
            <a:endParaRPr lang="de-DE" sz="2000" dirty="0"/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Stress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Remote </a:t>
            </a:r>
            <a:r>
              <a:rPr lang="de-DE" sz="2000" dirty="0" err="1"/>
              <a:t>Photoplethysmography</a:t>
            </a:r>
            <a:endParaRPr lang="de-DE" sz="2000" dirty="0"/>
          </a:p>
          <a:p>
            <a:pPr marL="342900" indent="-342900">
              <a:buFont typeface="+mj-lt"/>
              <a:buAutoNum type="arabicPeriod"/>
            </a:pPr>
            <a:r>
              <a:rPr lang="de-DE" sz="2000" dirty="0" err="1"/>
              <a:t>Sonification</a:t>
            </a:r>
            <a:endParaRPr lang="de-DE" sz="2000" dirty="0"/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Regeneration and Consciousness Regulation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/>
              <a:t>Case Studies</a:t>
            </a:r>
          </a:p>
          <a:p>
            <a:pPr marL="342900" indent="-342900">
              <a:buFont typeface="+mj-lt"/>
              <a:buAutoNum type="arabicPeriod"/>
            </a:pPr>
            <a:r>
              <a:rPr lang="de-DE" sz="2000" dirty="0" err="1"/>
              <a:t>Conclusion</a:t>
            </a:r>
            <a:endParaRPr lang="de-DE" sz="2000" dirty="0"/>
          </a:p>
          <a:p>
            <a:endParaRPr lang="de-DE" sz="2000" dirty="0"/>
          </a:p>
          <a:p>
            <a:pPr marL="342900" indent="-342900">
              <a:buFont typeface="+mj-lt"/>
              <a:buAutoNum type="arabicPeriod"/>
            </a:pPr>
            <a:endParaRPr lang="de-DE" sz="2000" dirty="0"/>
          </a:p>
        </p:txBody>
      </p:sp>
      <p:sp>
        <p:nvSpPr>
          <p:cNvPr id="12" name="Titel 1">
            <a:extLst>
              <a:ext uri="{FF2B5EF4-FFF2-40B4-BE49-F238E27FC236}">
                <a16:creationId xmlns:a16="http://schemas.microsoft.com/office/drawing/2014/main" id="{738D268A-2913-259B-7C2C-48D7B9F8708B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800100" y="906552"/>
            <a:ext cx="6766560" cy="541246"/>
          </a:xfrm>
        </p:spPr>
        <p:txBody>
          <a:bodyPr>
            <a:noAutofit/>
          </a:bodyPr>
          <a:lstStyle/>
          <a:p>
            <a:pPr lvl="0" algn="l">
              <a:lnSpc>
                <a:spcPct val="90000"/>
              </a:lnSpc>
            </a:pPr>
            <a:br>
              <a:rPr lang="en-US" sz="2400" dirty="0">
                <a:latin typeface="Univers Condensed" panose="020B0506020202050204" pitchFamily="34" charset="0"/>
              </a:rPr>
            </a:br>
            <a:r>
              <a:rPr lang="en-US" sz="2400" dirty="0">
                <a:latin typeface="Univers Condensed" panose="020B0506020202050204" pitchFamily="34" charset="0"/>
              </a:rPr>
              <a:t>Structure</a:t>
            </a: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B72708D9-C691-9C57-BB25-34080BB3F5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149" r="26406"/>
          <a:stretch>
            <a:fillRect/>
          </a:stretch>
        </p:blipFill>
        <p:spPr>
          <a:xfrm>
            <a:off x="8115300" y="9"/>
            <a:ext cx="4076696" cy="685799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C32E0E87-511A-7803-6292-E8F24FA46D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</a:t>
            </a:fld>
            <a:endParaRPr lang="de-DE"/>
          </a:p>
        </p:txBody>
      </p:sp>
      <p:sp>
        <p:nvSpPr>
          <p:cNvPr id="9" name="Datumsplatzhalter 8">
            <a:extLst>
              <a:ext uri="{FF2B5EF4-FFF2-40B4-BE49-F238E27FC236}">
                <a16:creationId xmlns:a16="http://schemas.microsoft.com/office/drawing/2014/main" id="{389C3818-F209-7CDA-D2E7-EC4E300E2F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</p:spTree>
    <p:extLst>
      <p:ext uri="{BB962C8B-B14F-4D97-AF65-F5344CB8AC3E}">
        <p14:creationId xmlns:p14="http://schemas.microsoft.com/office/powerpoint/2010/main" val="3074489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6A344-79C1-5C5B-E03D-34A1923F9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AAC47E76-9191-4FDD-A83E-4F9422B39C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CF7F4C3-2864-8310-4089-598ACD3FF9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3655CEFE-2727-F51E-A6E0-D5361C5A59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4D21F371-F1A3-2D66-BD0D-224984F42A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6DAEAF7-A872-3BDF-4F5F-33A1A6C91F8E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80CCBD89-32A3-B924-5A36-4B86B6F1B97A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816AFD7E-8FB8-4007-7095-09EA7EB1F69B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F57051E-DA54-F583-2ECB-AE276E55E691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0C60CAC-1BB9-C39C-9C68-7E7916D513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3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FDDE048-0B79-C409-7692-D084801F6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842C739D-3A5F-A1A7-FBAC-351963B5BAA3}"/>
              </a:ext>
            </a:extLst>
          </p:cNvPr>
          <p:cNvSpPr txBox="1"/>
          <p:nvPr/>
        </p:nvSpPr>
        <p:spPr>
          <a:xfrm>
            <a:off x="800100" y="876475"/>
            <a:ext cx="596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latin typeface="Univers Condensed" panose="020B0506020202050204" pitchFamily="34" charset="0"/>
              </a:rPr>
              <a:t>Introduction</a:t>
            </a:r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8F4F520A-BDDF-8437-219F-DF3A98D567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7340" y="632609"/>
            <a:ext cx="3903044" cy="5521380"/>
          </a:xfrm>
          <a:prstGeom prst="rect">
            <a:avLst/>
          </a:prstGeom>
        </p:spPr>
      </p:pic>
      <p:sp>
        <p:nvSpPr>
          <p:cNvPr id="13" name="Textfeld 12">
            <a:extLst>
              <a:ext uri="{FF2B5EF4-FFF2-40B4-BE49-F238E27FC236}">
                <a16:creationId xmlns:a16="http://schemas.microsoft.com/office/drawing/2014/main" id="{B48048FB-A2A5-7545-9B2E-E63CB59947D5}"/>
              </a:ext>
            </a:extLst>
          </p:cNvPr>
          <p:cNvSpPr txBox="1"/>
          <p:nvPr/>
        </p:nvSpPr>
        <p:spPr>
          <a:xfrm>
            <a:off x="914400" y="1504950"/>
            <a:ext cx="672465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Consequences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Stress: </a:t>
            </a:r>
            <a:r>
              <a:rPr lang="de-DE" dirty="0" err="1"/>
              <a:t>depresson</a:t>
            </a:r>
            <a:r>
              <a:rPr lang="de-DE" dirty="0"/>
              <a:t>, </a:t>
            </a:r>
            <a:r>
              <a:rPr lang="de-DE" dirty="0" err="1"/>
              <a:t>anxiety</a:t>
            </a:r>
            <a:r>
              <a:rPr lang="de-DE" dirty="0"/>
              <a:t>, social </a:t>
            </a:r>
            <a:r>
              <a:rPr lang="de-DE" dirty="0" err="1"/>
              <a:t>withdrawal</a:t>
            </a:r>
            <a:r>
              <a:rPr lang="de-DE" dirty="0"/>
              <a:t>, </a:t>
            </a:r>
            <a:r>
              <a:rPr lang="de-DE" dirty="0" err="1"/>
              <a:t>sleep</a:t>
            </a:r>
            <a:r>
              <a:rPr lang="de-DE" dirty="0"/>
              <a:t> </a:t>
            </a:r>
            <a:r>
              <a:rPr lang="de-DE" dirty="0" err="1"/>
              <a:t>deprivation</a:t>
            </a:r>
            <a:r>
              <a:rPr lang="de-DE" dirty="0"/>
              <a:t>, </a:t>
            </a:r>
            <a:r>
              <a:rPr lang="de-DE" dirty="0" err="1"/>
              <a:t>obesity</a:t>
            </a:r>
            <a:r>
              <a:rPr lang="de-DE" dirty="0"/>
              <a:t> 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Plethysmography</a:t>
            </a:r>
            <a:r>
              <a:rPr lang="de-DE" dirty="0"/>
              <a:t>: Measurement </a:t>
            </a:r>
            <a:r>
              <a:rPr lang="de-DE" dirty="0" err="1"/>
              <a:t>of</a:t>
            </a:r>
            <a:r>
              <a:rPr lang="de-DE" dirty="0"/>
              <a:t> pulse </a:t>
            </a:r>
            <a:r>
              <a:rPr lang="de-DE" dirty="0" err="1"/>
              <a:t>waves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Photoplethysmography (PPG): ... using light reflectance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remote PPG (</a:t>
            </a:r>
            <a:r>
              <a:rPr lang="en-US" dirty="0" err="1"/>
              <a:t>rPPG</a:t>
            </a:r>
            <a:r>
              <a:rPr lang="en-US" dirty="0"/>
              <a:t>): … via digital camera (contactless)</a:t>
            </a:r>
            <a:r>
              <a:rPr lang="en-US" baseline="30000" dirty="0"/>
              <a:t>2</a:t>
            </a:r>
          </a:p>
          <a:p>
            <a:pPr lvl="2"/>
            <a:r>
              <a:rPr lang="de-DE" b="1" dirty="0"/>
              <a:t>						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Biofeedback: </a:t>
            </a:r>
            <a:r>
              <a:rPr lang="en-US" dirty="0"/>
              <a:t>Real-time loop returning physiological data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Musical Biofeedback: </a:t>
            </a:r>
            <a:r>
              <a:rPr lang="en-US" dirty="0"/>
              <a:t>Auditory feedback loop using music</a:t>
            </a:r>
            <a:r>
              <a:rPr lang="en-US" baseline="30000" dirty="0"/>
              <a:t>3</a:t>
            </a:r>
            <a:endParaRPr lang="de-DE" baseline="30000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  <a:p>
            <a:endParaRPr lang="de-DE" dirty="0"/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3DD2CC1B-D4C7-6EAF-7E5B-DAFBC7D715F2}"/>
              </a:ext>
            </a:extLst>
          </p:cNvPr>
          <p:cNvSpPr txBox="1"/>
          <p:nvPr/>
        </p:nvSpPr>
        <p:spPr>
          <a:xfrm>
            <a:off x="8417560" y="5800247"/>
            <a:ext cx="3231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Musical Biofeedback Loop: Real-time </a:t>
            </a:r>
            <a:r>
              <a:rPr lang="de-DE" sz="1400" dirty="0" err="1"/>
              <a:t>translation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physiological</a:t>
            </a:r>
            <a:r>
              <a:rPr lang="de-DE" sz="1400" dirty="0"/>
              <a:t> </a:t>
            </a:r>
            <a:r>
              <a:rPr lang="de-DE" sz="1400" dirty="0" err="1"/>
              <a:t>rPPG</a:t>
            </a:r>
            <a:r>
              <a:rPr lang="de-DE" sz="1400" dirty="0"/>
              <a:t> </a:t>
            </a:r>
            <a:r>
              <a:rPr lang="de-DE" sz="1400" dirty="0" err="1"/>
              <a:t>data</a:t>
            </a:r>
            <a:r>
              <a:rPr lang="de-DE" sz="1400" dirty="0"/>
              <a:t> </a:t>
            </a:r>
            <a:r>
              <a:rPr lang="de-DE" sz="1400" dirty="0" err="1"/>
              <a:t>into</a:t>
            </a:r>
            <a:r>
              <a:rPr lang="de-DE" sz="1400" dirty="0"/>
              <a:t> intuitive </a:t>
            </a:r>
            <a:r>
              <a:rPr lang="de-DE" sz="1400" dirty="0" err="1"/>
              <a:t>musical</a:t>
            </a:r>
            <a:r>
              <a:rPr lang="de-DE" sz="1400" dirty="0"/>
              <a:t> </a:t>
            </a:r>
            <a:r>
              <a:rPr lang="de-DE" sz="1400" dirty="0" err="1"/>
              <a:t>biofeedback</a:t>
            </a:r>
            <a:endParaRPr lang="de-DE" sz="1400" dirty="0"/>
          </a:p>
          <a:p>
            <a:r>
              <a:rPr lang="de-DE" sz="1400" dirty="0"/>
              <a:t>Source: Own </a:t>
            </a:r>
            <a:r>
              <a:rPr lang="de-DE" sz="1400" dirty="0" err="1"/>
              <a:t>illustration</a:t>
            </a:r>
            <a:endParaRPr lang="de-DE" sz="14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C410C0C-9292-CB29-7813-94B5C1798DD9}"/>
              </a:ext>
            </a:extLst>
          </p:cNvPr>
          <p:cNvSpPr txBox="1"/>
          <p:nvPr/>
        </p:nvSpPr>
        <p:spPr>
          <a:xfrm>
            <a:off x="914400" y="5679924"/>
            <a:ext cx="701294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Mcewen2017neurobiology, [2] cf. Verkruysse2008remote, [3] cf. giggins2013biofeedback   </a:t>
            </a:r>
            <a:r>
              <a:rPr lang="de-DE" sz="12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68729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CBA3B9-4B32-33FB-B5DC-DDA7A219A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1B4EB139-E29F-43E8-9B8E-77A40B656C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109543F-ED30-205B-56EE-94405E5C29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7633B9C9-B83B-2DD5-C570-656F54FE1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25C13C4-4395-20E1-BE98-3AA2743BF0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AB2DA5A7-9CB1-9863-4F1F-AB07872E3CD7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2BCAE701-DE53-F8E7-6BBF-EE7F9412FE5B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E8F0AD7-2C7A-117A-9247-5C15A23DBC55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815E5424-7497-1D75-648E-1C5C8EEE6F49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60CF2FA-FF4D-6809-47F8-EF354DE3ED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4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394FFDE-BB2A-2F41-AC43-15EE41B269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 dirty="0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5F8F32C-B399-0757-5AD1-FC82260FF886}"/>
              </a:ext>
            </a:extLst>
          </p:cNvPr>
          <p:cNvSpPr txBox="1"/>
          <p:nvPr/>
        </p:nvSpPr>
        <p:spPr>
          <a:xfrm>
            <a:off x="800100" y="895525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Stress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520A7D59-2DC1-FA43-65FF-CAAC0CE3BCA1}"/>
              </a:ext>
            </a:extLst>
          </p:cNvPr>
          <p:cNvSpPr txBox="1"/>
          <p:nvPr/>
        </p:nvSpPr>
        <p:spPr>
          <a:xfrm>
            <a:off x="946150" y="1569002"/>
            <a:ext cx="6084128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Parasympathetic</a:t>
            </a:r>
            <a:r>
              <a:rPr lang="de-DE" dirty="0"/>
              <a:t> </a:t>
            </a:r>
            <a:r>
              <a:rPr lang="de-DE" dirty="0" err="1"/>
              <a:t>branch</a:t>
            </a:r>
            <a:r>
              <a:rPr lang="de-DE" dirty="0"/>
              <a:t>: Recovery &amp; Relaxation (Heart Rate </a:t>
            </a:r>
            <a:r>
              <a:rPr lang="de-DE" dirty="0" err="1"/>
              <a:t>Reduction</a:t>
            </a:r>
            <a:r>
              <a:rPr lang="de-DE" dirty="0"/>
              <a:t>)</a:t>
            </a:r>
            <a:r>
              <a:rPr lang="de-DE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Sympathetic</a:t>
            </a:r>
            <a:r>
              <a:rPr lang="de-DE" dirty="0"/>
              <a:t> </a:t>
            </a:r>
            <a:r>
              <a:rPr lang="de-DE" dirty="0" err="1"/>
              <a:t>branch</a:t>
            </a:r>
            <a:r>
              <a:rPr lang="de-DE" dirty="0"/>
              <a:t>: </a:t>
            </a:r>
            <a:r>
              <a:rPr lang="de-DE" dirty="0" err="1"/>
              <a:t>Activiation</a:t>
            </a:r>
            <a:r>
              <a:rPr lang="de-DE" dirty="0"/>
              <a:t> &amp; Stress Response (Energy </a:t>
            </a:r>
            <a:r>
              <a:rPr lang="de-DE" dirty="0" err="1"/>
              <a:t>Mobilization</a:t>
            </a:r>
            <a:r>
              <a:rPr lang="de-DE" dirty="0"/>
              <a:t>)</a:t>
            </a:r>
            <a:r>
              <a:rPr lang="de-DE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Allostatic</a:t>
            </a:r>
            <a:r>
              <a:rPr lang="de-DE" dirty="0"/>
              <a:t> </a:t>
            </a:r>
            <a:r>
              <a:rPr lang="de-DE" dirty="0" err="1"/>
              <a:t>load:body</a:t>
            </a:r>
            <a:r>
              <a:rPr lang="de-DE" dirty="0"/>
              <a:t> </a:t>
            </a:r>
            <a:r>
              <a:rPr lang="de-DE" dirty="0" err="1"/>
              <a:t>adapts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environmental demands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Protective</a:t>
            </a:r>
            <a:r>
              <a:rPr lang="de-DE" dirty="0"/>
              <a:t> Response: Short-term </a:t>
            </a:r>
            <a:r>
              <a:rPr lang="de-DE" dirty="0" err="1"/>
              <a:t>mobilization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a vital </a:t>
            </a:r>
            <a:r>
              <a:rPr lang="de-DE" dirty="0" err="1"/>
              <a:t>survival</a:t>
            </a:r>
            <a:r>
              <a:rPr lang="de-DE" dirty="0"/>
              <a:t> mechanism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Maldapative</a:t>
            </a:r>
            <a:r>
              <a:rPr lang="de-DE" dirty="0"/>
              <a:t> Coping: </a:t>
            </a:r>
            <a:r>
              <a:rPr lang="de-DE" dirty="0" err="1"/>
              <a:t>Harmless</a:t>
            </a:r>
            <a:r>
              <a:rPr lang="de-DE" dirty="0"/>
              <a:t> </a:t>
            </a:r>
            <a:r>
              <a:rPr lang="de-DE" dirty="0" err="1"/>
              <a:t>situations</a:t>
            </a:r>
            <a:r>
              <a:rPr lang="de-DE" dirty="0"/>
              <a:t> </a:t>
            </a:r>
            <a:r>
              <a:rPr lang="de-DE" dirty="0" err="1"/>
              <a:t>trigger</a:t>
            </a:r>
            <a:r>
              <a:rPr lang="de-DE" dirty="0"/>
              <a:t> stress, </a:t>
            </a:r>
            <a:r>
              <a:rPr lang="de-DE" dirty="0" err="1"/>
              <a:t>leading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harmful</a:t>
            </a:r>
            <a:r>
              <a:rPr lang="de-DE" dirty="0"/>
              <a:t> </a:t>
            </a:r>
            <a:r>
              <a:rPr lang="de-DE" dirty="0" err="1"/>
              <a:t>habits</a:t>
            </a:r>
            <a:r>
              <a:rPr lang="de-DE" dirty="0"/>
              <a:t> (</a:t>
            </a:r>
            <a:r>
              <a:rPr lang="de-DE" dirty="0" err="1"/>
              <a:t>smoking</a:t>
            </a:r>
            <a:r>
              <a:rPr lang="de-DE" dirty="0"/>
              <a:t>, </a:t>
            </a:r>
            <a:r>
              <a:rPr lang="de-DE" dirty="0" err="1"/>
              <a:t>drinking</a:t>
            </a:r>
            <a:r>
              <a:rPr lang="de-DE" dirty="0"/>
              <a:t>)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Plasticity</a:t>
            </a:r>
            <a:r>
              <a:rPr lang="de-DE" dirty="0"/>
              <a:t>: </a:t>
            </a:r>
            <a:r>
              <a:rPr lang="de-DE" dirty="0" err="1"/>
              <a:t>ability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„</a:t>
            </a:r>
            <a:r>
              <a:rPr lang="de-DE" dirty="0" err="1"/>
              <a:t>re-wire</a:t>
            </a:r>
            <a:r>
              <a:rPr lang="de-DE" dirty="0"/>
              <a:t>“ </a:t>
            </a:r>
            <a:r>
              <a:rPr lang="de-DE" dirty="0" err="1"/>
              <a:t>the</a:t>
            </a:r>
            <a:r>
              <a:rPr lang="de-DE" dirty="0"/>
              <a:t> stress response</a:t>
            </a:r>
            <a:r>
              <a:rPr lang="de-DE" baseline="30000" dirty="0"/>
              <a:t>1</a:t>
            </a:r>
          </a:p>
          <a:p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1045A9CC-E40C-C09B-01B9-23869B52B3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3650" y="895525"/>
            <a:ext cx="5418240" cy="2276786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16DF5E9-3416-E308-B3FD-F0927429C238}"/>
              </a:ext>
            </a:extLst>
          </p:cNvPr>
          <p:cNvSpPr txBox="1"/>
          <p:nvPr/>
        </p:nvSpPr>
        <p:spPr>
          <a:xfrm>
            <a:off x="7441096" y="3250417"/>
            <a:ext cx="45189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The </a:t>
            </a:r>
            <a:r>
              <a:rPr lang="de-DE" sz="1400" dirty="0" err="1"/>
              <a:t>figure</a:t>
            </a:r>
            <a:r>
              <a:rPr lang="de-DE" sz="1400" dirty="0"/>
              <a:t> </a:t>
            </a:r>
            <a:r>
              <a:rPr lang="de-DE" sz="1400" dirty="0" err="1"/>
              <a:t>illustrates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separate </a:t>
            </a:r>
            <a:r>
              <a:rPr lang="de-DE" sz="1400" dirty="0" err="1"/>
              <a:t>components</a:t>
            </a:r>
            <a:r>
              <a:rPr lang="de-DE" sz="1400" dirty="0"/>
              <a:t> </a:t>
            </a:r>
            <a:r>
              <a:rPr lang="de-DE" sz="1400" dirty="0" err="1"/>
              <a:t>that</a:t>
            </a:r>
            <a:r>
              <a:rPr lang="de-DE" sz="1400" dirty="0"/>
              <a:t> </a:t>
            </a:r>
            <a:r>
              <a:rPr lang="de-DE" sz="1400" dirty="0" err="1"/>
              <a:t>the</a:t>
            </a:r>
            <a:r>
              <a:rPr lang="de-DE" sz="1400" dirty="0"/>
              <a:t> </a:t>
            </a:r>
            <a:r>
              <a:rPr lang="de-DE" sz="1400" dirty="0" err="1"/>
              <a:t>brain</a:t>
            </a:r>
            <a:r>
              <a:rPr lang="de-DE" sz="1400" dirty="0"/>
              <a:t> </a:t>
            </a:r>
            <a:r>
              <a:rPr lang="de-DE" sz="1400" dirty="0" err="1"/>
              <a:t>takes</a:t>
            </a:r>
            <a:r>
              <a:rPr lang="de-DE" sz="1400" dirty="0"/>
              <a:t> </a:t>
            </a:r>
            <a:r>
              <a:rPr lang="de-DE" sz="1400" dirty="0" err="1"/>
              <a:t>into</a:t>
            </a:r>
            <a:r>
              <a:rPr lang="de-DE" sz="1400" dirty="0"/>
              <a:t> </a:t>
            </a:r>
            <a:r>
              <a:rPr lang="de-DE" sz="1400" dirty="0" err="1"/>
              <a:t>account</a:t>
            </a:r>
            <a:r>
              <a:rPr lang="de-DE" sz="1400" dirty="0"/>
              <a:t> </a:t>
            </a:r>
            <a:r>
              <a:rPr lang="de-DE" sz="1400" dirty="0" err="1"/>
              <a:t>when</a:t>
            </a:r>
            <a:r>
              <a:rPr lang="de-DE" sz="1400" dirty="0"/>
              <a:t> </a:t>
            </a:r>
            <a:r>
              <a:rPr lang="de-DE" sz="1400" dirty="0" err="1"/>
              <a:t>releasing</a:t>
            </a:r>
            <a:r>
              <a:rPr lang="de-DE" sz="1400" dirty="0"/>
              <a:t> stress</a:t>
            </a:r>
            <a:r>
              <a:rPr lang="de-DE" sz="1400" baseline="30000" dirty="0"/>
              <a:t>1</a:t>
            </a: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8AF9AF26-F1F7-EB2B-3F2F-69C076030F3D}"/>
              </a:ext>
            </a:extLst>
          </p:cNvPr>
          <p:cNvSpPr txBox="1"/>
          <p:nvPr/>
        </p:nvSpPr>
        <p:spPr>
          <a:xfrm>
            <a:off x="1000539" y="5718313"/>
            <a:ext cx="5923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Mcewen2017neurobiology, [2] cf. mccorry2007physiology </a:t>
            </a:r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36603373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87451-2881-D0F3-45A0-C9EC856551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56705D8A-CAC0-E9FA-60FF-A3EB434AE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10F4092-097A-B3A6-6A17-75E5B02676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2540C5A1-62D0-F0FD-13FD-A6FFD7CAB1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21A0492E-74C8-6B2E-EF95-7F517778B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2B322A0C-C0CB-0F49-006C-AF88C2291297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3C552885-4483-00CA-19CF-2F169C1B8343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4C2F18C3-D576-A870-F307-6C8CFBF115D8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A1DC2F61-0E69-7C89-4E06-4AB0C835EDF2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D6340AC-7C2C-3B14-30D7-50A74FF13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5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20AC1FE-10FA-1E63-F660-F4AF7D8D6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A896A216-E259-DDFD-7834-CA36A53F18AC}"/>
              </a:ext>
            </a:extLst>
          </p:cNvPr>
          <p:cNvSpPr txBox="1"/>
          <p:nvPr/>
        </p:nvSpPr>
        <p:spPr>
          <a:xfrm>
            <a:off x="800100" y="895525"/>
            <a:ext cx="5962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Stress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0FEFD485-30AA-9982-D19B-9A6FF9BFD80B}"/>
              </a:ext>
            </a:extLst>
          </p:cNvPr>
          <p:cNvSpPr txBox="1"/>
          <p:nvPr/>
        </p:nvSpPr>
        <p:spPr>
          <a:xfrm>
            <a:off x="838201" y="1708150"/>
            <a:ext cx="814014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Heart Rate (HR): Beats per minute – represents the quantity of heart activity</a:t>
            </a:r>
            <a:r>
              <a:rPr lang="en-US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Heart Rate Variability (HRV): Time variation between consecutive beats – represents the quality of regulation</a:t>
            </a:r>
            <a:r>
              <a:rPr lang="en-US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 </a:t>
            </a:r>
            <a:r>
              <a:rPr lang="de-DE" dirty="0" err="1"/>
              <a:t>health</a:t>
            </a:r>
            <a:r>
              <a:rPr lang="de-DE" dirty="0"/>
              <a:t> </a:t>
            </a:r>
            <a:r>
              <a:rPr lang="de-DE" dirty="0" err="1"/>
              <a:t>heart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not „rhythmic“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High </a:t>
            </a:r>
            <a:r>
              <a:rPr lang="de-DE" dirty="0" err="1"/>
              <a:t>variability</a:t>
            </a:r>
            <a:r>
              <a:rPr lang="de-DE" dirty="0"/>
              <a:t> </a:t>
            </a:r>
            <a:r>
              <a:rPr lang="de-DE" dirty="0" err="1"/>
              <a:t>indicates</a:t>
            </a:r>
            <a:r>
              <a:rPr lang="de-DE" dirty="0"/>
              <a:t> resilience</a:t>
            </a:r>
            <a:r>
              <a:rPr lang="de-DE" baseline="30000" dirty="0"/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clock</a:t>
            </a:r>
            <a:r>
              <a:rPr lang="de-DE" dirty="0"/>
              <a:t> like </a:t>
            </a:r>
            <a:r>
              <a:rPr lang="de-DE" dirty="0" err="1"/>
              <a:t>intervals</a:t>
            </a:r>
            <a:r>
              <a:rPr lang="de-DE" dirty="0"/>
              <a:t> </a:t>
            </a:r>
            <a:r>
              <a:rPr lang="de-DE" dirty="0" err="1"/>
              <a:t>key</a:t>
            </a:r>
            <a:r>
              <a:rPr lang="de-DE" dirty="0"/>
              <a:t> </a:t>
            </a:r>
            <a:r>
              <a:rPr lang="de-DE" dirty="0" err="1"/>
              <a:t>indicator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physiological</a:t>
            </a:r>
            <a:r>
              <a:rPr lang="de-DE" dirty="0"/>
              <a:t> stress</a:t>
            </a:r>
            <a:r>
              <a:rPr lang="de-DE" baseline="30000" dirty="0"/>
              <a:t>1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71DD9FF-0EC3-AFFC-E21F-D0C16AA4568D}"/>
              </a:ext>
            </a:extLst>
          </p:cNvPr>
          <p:cNvSpPr txBox="1"/>
          <p:nvPr/>
        </p:nvSpPr>
        <p:spPr>
          <a:xfrm>
            <a:off x="1000539" y="5718313"/>
            <a:ext cx="59237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shaffer2017overview</a:t>
            </a:r>
            <a:endParaRPr lang="de-DE" sz="1200" dirty="0"/>
          </a:p>
        </p:txBody>
      </p:sp>
    </p:spTree>
    <p:extLst>
      <p:ext uri="{BB962C8B-B14F-4D97-AF65-F5344CB8AC3E}">
        <p14:creationId xmlns:p14="http://schemas.microsoft.com/office/powerpoint/2010/main" val="3360084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F0FD97-A4F8-4041-CF58-9366D0A9E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A5BE14EE-51FE-B120-7642-0559B32E09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F3A14F8A-D6FF-FEA6-77E3-24C3C8D2B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A251BAED-BD1F-A144-E12B-71A33DC617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006A7EB4-E8A2-60EA-106F-6913AF660FC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20F0766E-504D-57B2-EC39-2698F8352C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1C1D2057-5CA8-E33A-E2D7-C101EB0FFB24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7B00767-B8BA-B173-A6A4-400891C2731B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E48B1BC4-BF81-8360-1769-7120C315D64C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5F61904A-4DD0-6071-214E-50A56A31D8E9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182AB80-1C31-D213-15F7-EEDFD58FE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6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C25C6C9-FB97-EB8A-CD6F-FBED5849B9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F6292517-5948-8522-A501-C6A0ABB72BB4}"/>
              </a:ext>
            </a:extLst>
          </p:cNvPr>
          <p:cNvSpPr txBox="1"/>
          <p:nvPr/>
        </p:nvSpPr>
        <p:spPr>
          <a:xfrm>
            <a:off x="800100" y="845344"/>
            <a:ext cx="62738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</a:t>
            </a:r>
            <a:r>
              <a:rPr lang="de-DE" sz="2400" dirty="0" err="1"/>
              <a:t>foundation</a:t>
            </a:r>
            <a:r>
              <a:rPr lang="de-DE" sz="2400" dirty="0"/>
              <a:t>)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916CBAC1-0B57-E3BA-DD8D-5AE1C1E2BA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3543" y="3629415"/>
            <a:ext cx="6273801" cy="1916435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6481B184-BA76-4F3C-70F9-A1E66FCBFBA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67633" y="449092"/>
            <a:ext cx="4454272" cy="2286202"/>
          </a:xfrm>
          <a:prstGeom prst="rect">
            <a:avLst/>
          </a:prstGeom>
        </p:spPr>
      </p:pic>
      <p:sp>
        <p:nvSpPr>
          <p:cNvPr id="14" name="Textfeld 13">
            <a:extLst>
              <a:ext uri="{FF2B5EF4-FFF2-40B4-BE49-F238E27FC236}">
                <a16:creationId xmlns:a16="http://schemas.microsoft.com/office/drawing/2014/main" id="{C9D1AA76-A286-61B4-F59F-0EDA0DFA78F8}"/>
              </a:ext>
            </a:extLst>
          </p:cNvPr>
          <p:cNvSpPr txBox="1"/>
          <p:nvPr/>
        </p:nvSpPr>
        <p:spPr>
          <a:xfrm>
            <a:off x="838200" y="1386510"/>
            <a:ext cx="62738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Absorption: Blood </a:t>
            </a:r>
            <a:r>
              <a:rPr lang="de-DE" dirty="0" err="1"/>
              <a:t>volume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 </a:t>
            </a:r>
            <a:r>
              <a:rPr lang="de-DE" dirty="0" err="1"/>
              <a:t>modulate</a:t>
            </a:r>
            <a:r>
              <a:rPr lang="de-DE" dirty="0"/>
              <a:t> light </a:t>
            </a:r>
            <a:r>
              <a:rPr lang="de-DE" dirty="0" err="1"/>
              <a:t>absorption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each</a:t>
            </a:r>
            <a:r>
              <a:rPr lang="de-DE" dirty="0"/>
              <a:t> beat</a:t>
            </a:r>
            <a:r>
              <a:rPr lang="de-DE" baseline="30000" dirty="0"/>
              <a:t>2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Green Channel: </a:t>
            </a:r>
            <a:r>
              <a:rPr lang="de-DE" dirty="0" err="1"/>
              <a:t>Provides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strongest</a:t>
            </a:r>
            <a:r>
              <a:rPr lang="de-DE" dirty="0"/>
              <a:t> signal</a:t>
            </a:r>
            <a:r>
              <a:rPr lang="de-DE" baseline="30000" dirty="0"/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Target Areas: </a:t>
            </a:r>
            <a:r>
              <a:rPr lang="en-US" dirty="0"/>
              <a:t>Cheeks offer the highest signal-to-noise ratio: easily accessible, exposed</a:t>
            </a:r>
            <a:r>
              <a:rPr lang="en-US" baseline="30000" dirty="0"/>
              <a:t>3</a:t>
            </a:r>
            <a:endParaRPr lang="de-DE" baseline="30000" dirty="0"/>
          </a:p>
          <a:p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5F198FF-E732-229F-7DB6-F3BF186BDE1D}"/>
              </a:ext>
            </a:extLst>
          </p:cNvPr>
          <p:cNvSpPr txBox="1"/>
          <p:nvPr/>
        </p:nvSpPr>
        <p:spPr>
          <a:xfrm>
            <a:off x="7669399" y="2673324"/>
            <a:ext cx="433755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Spectral sensitivity of the PPG signal. Green light exhibits the highest amplitude, making it the most reliable channel for non-contact heart rate monitoring.</a:t>
            </a:r>
            <a:r>
              <a:rPr lang="en-US" sz="1400" baseline="30000" dirty="0"/>
              <a:t>1</a:t>
            </a:r>
            <a:r>
              <a:rPr lang="en-US" sz="1400" dirty="0"/>
              <a:t> </a:t>
            </a:r>
            <a:endParaRPr lang="de-DE" sz="1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103A7A22-390D-88B4-FE0F-F7FF05089FF6}"/>
              </a:ext>
            </a:extLst>
          </p:cNvPr>
          <p:cNvSpPr txBox="1"/>
          <p:nvPr/>
        </p:nvSpPr>
        <p:spPr>
          <a:xfrm>
            <a:off x="310873" y="5559678"/>
            <a:ext cx="3856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Dehaan2013chrom, [2] verkruysse2008remote, </a:t>
            </a:r>
          </a:p>
          <a:p>
            <a:r>
              <a:rPr lang="de-DE" sz="1200" dirty="0">
                <a:solidFill>
                  <a:schemeClr val="dk1"/>
                </a:solidFill>
              </a:rPr>
              <a:t>[3] cf. lempe2013roi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7F91B81-DA98-9086-737E-61BC5BA63A5B}"/>
              </a:ext>
            </a:extLst>
          </p:cNvPr>
          <p:cNvSpPr txBox="1"/>
          <p:nvPr/>
        </p:nvSpPr>
        <p:spPr>
          <a:xfrm>
            <a:off x="6413690" y="5596743"/>
            <a:ext cx="43375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quality of the </a:t>
            </a:r>
            <a:r>
              <a:rPr lang="en-US" sz="1400" dirty="0" err="1"/>
              <a:t>rPPG</a:t>
            </a:r>
            <a:r>
              <a:rPr lang="en-US" sz="1400" dirty="0"/>
              <a:t> signal in the face. Blue shows low activity and red high activity</a:t>
            </a:r>
            <a:r>
              <a:rPr lang="en-US" sz="1400" baseline="30000" dirty="0"/>
              <a:t>3</a:t>
            </a:r>
            <a:endParaRPr lang="de-DE" sz="1400" baseline="30000" dirty="0"/>
          </a:p>
        </p:txBody>
      </p:sp>
    </p:spTree>
    <p:extLst>
      <p:ext uri="{BB962C8B-B14F-4D97-AF65-F5344CB8AC3E}">
        <p14:creationId xmlns:p14="http://schemas.microsoft.com/office/powerpoint/2010/main" val="32102147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12A66-F717-673B-1071-735E84BE7B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7C9868A4-8A3B-1595-0093-FA6AA90C77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C318FF90-A0A7-94A8-A9B3-81DDCA9901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BD5C5148-A708-D228-7970-C21C6DC860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2634E5F7-FC54-B042-A71C-B0F7C64B41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BC3B25F7-748D-A440-866B-3C9571B3B5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789667F-FC78-0FBD-99C1-827EC1064D9A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15B86617-AECB-8727-1994-C6B190D7B304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D461B4F2-31D8-8714-D456-E510E35FCEE6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0959B816-E3BD-6B2A-EBA7-A4617B6E6DF4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F827239-8ACD-051B-A338-109BAE0A7F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7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C1639BA-87CF-B98C-9A8C-39C6DD44A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2D1338F7-6F6D-6B54-E735-28ADC63431D1}"/>
              </a:ext>
            </a:extLst>
          </p:cNvPr>
          <p:cNvSpPr txBox="1"/>
          <p:nvPr/>
        </p:nvSpPr>
        <p:spPr>
          <a:xfrm>
            <a:off x="800100" y="845344"/>
            <a:ext cx="62738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(Tracking Region </a:t>
            </a:r>
            <a:r>
              <a:rPr lang="de-DE" sz="2400" dirty="0" err="1"/>
              <a:t>of</a:t>
            </a:r>
            <a:r>
              <a:rPr lang="de-DE" sz="2400" dirty="0"/>
              <a:t> Interest)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EE8ECF0D-D4C8-8624-D604-8FFC5D245892}"/>
              </a:ext>
            </a:extLst>
          </p:cNvPr>
          <p:cNvSpPr txBox="1"/>
          <p:nvPr/>
        </p:nvSpPr>
        <p:spPr>
          <a:xfrm>
            <a:off x="844826" y="2060020"/>
            <a:ext cx="6273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3D Mesh Mapping: </a:t>
            </a:r>
            <a:r>
              <a:rPr lang="de-DE" dirty="0" err="1"/>
              <a:t>Utilizes</a:t>
            </a:r>
            <a:r>
              <a:rPr lang="de-DE" dirty="0"/>
              <a:t> </a:t>
            </a:r>
            <a:r>
              <a:rPr lang="de-DE" dirty="0" err="1"/>
              <a:t>landmarks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robust ROI </a:t>
            </a:r>
            <a:r>
              <a:rPr lang="de-DE" dirty="0" err="1"/>
              <a:t>tracking</a:t>
            </a:r>
            <a:r>
              <a:rPr lang="de-DE" dirty="0"/>
              <a:t>, </a:t>
            </a:r>
            <a:r>
              <a:rPr lang="de-DE" dirty="0" err="1"/>
              <a:t>minimizing</a:t>
            </a:r>
            <a:r>
              <a:rPr lang="de-DE" dirty="0"/>
              <a:t> </a:t>
            </a:r>
            <a:r>
              <a:rPr lang="de-DE" dirty="0" err="1"/>
              <a:t>motion</a:t>
            </a:r>
            <a:r>
              <a:rPr lang="de-DE" dirty="0"/>
              <a:t> artifacts</a:t>
            </a:r>
            <a:r>
              <a:rPr lang="de-DE" baseline="30000" dirty="0"/>
              <a:t>1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CCF02F07-AF43-EE2A-FEB5-F0A01987BA8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5719" y="358086"/>
            <a:ext cx="4670783" cy="2625264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3482C375-7272-C679-3895-04A3C43E809D}"/>
              </a:ext>
            </a:extLst>
          </p:cNvPr>
          <p:cNvSpPr txBox="1"/>
          <p:nvPr/>
        </p:nvSpPr>
        <p:spPr>
          <a:xfrm>
            <a:off x="7268817" y="3003241"/>
            <a:ext cx="4265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 Example of a face mesh calculating with an artificial intelligence model</a:t>
            </a:r>
            <a:r>
              <a:rPr lang="en-US" sz="1400" baseline="30000" dirty="0"/>
              <a:t>1</a:t>
            </a:r>
            <a:r>
              <a:rPr lang="en-US" sz="1400" dirty="0"/>
              <a:t> </a:t>
            </a:r>
            <a:endParaRPr lang="de-DE" sz="1400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2D4B6A8A-6C31-7BDA-BA4F-04CABD73510E}"/>
              </a:ext>
            </a:extLst>
          </p:cNvPr>
          <p:cNvSpPr txBox="1"/>
          <p:nvPr/>
        </p:nvSpPr>
        <p:spPr>
          <a:xfrm>
            <a:off x="1006612" y="5575327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kartynnik2019real</a:t>
            </a:r>
          </a:p>
        </p:txBody>
      </p:sp>
    </p:spTree>
    <p:extLst>
      <p:ext uri="{BB962C8B-B14F-4D97-AF65-F5344CB8AC3E}">
        <p14:creationId xmlns:p14="http://schemas.microsoft.com/office/powerpoint/2010/main" val="1001371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1E2F92-C39E-4524-B0A1-5BB0C3FE0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3549EB1F-1F5A-87B2-9D6D-DDF59CFF80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9DFD9F5-BB49-2166-3964-81E2446115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A66EBFC0-94EB-3117-8BEB-D2AC405780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0022627D-78D6-3ED3-1AD1-D4DBE2873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1F29B7-29B7-8367-FE1F-E23E10865A2A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5DE7A655-558D-339E-3757-7CAC9218071F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CF3F1F9-86AE-6A7C-9551-14C39D74584F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FE41DF1-8B05-2F4F-0C4D-FB8002E140C8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4A599F6-2815-7473-5CEC-D9568A1681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8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E86FE4E-DC6A-FBFC-76E8-726D014D66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6AB36B3-19F3-A6EB-56C4-5A8603576D3C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(Signal </a:t>
            </a:r>
            <a:r>
              <a:rPr lang="de-DE" sz="2400" dirty="0" err="1"/>
              <a:t>extraction</a:t>
            </a:r>
            <a:r>
              <a:rPr lang="de-DE" sz="2400" dirty="0"/>
              <a:t> </a:t>
            </a:r>
            <a:r>
              <a:rPr lang="de-DE" sz="2400" dirty="0" err="1"/>
              <a:t>overview</a:t>
            </a:r>
            <a:r>
              <a:rPr lang="de-DE" sz="2400" dirty="0"/>
              <a:t>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236273B1-CBE2-2C0A-4A20-5185CC5CDEF6}"/>
              </a:ext>
            </a:extLst>
          </p:cNvPr>
          <p:cNvSpPr txBox="1"/>
          <p:nvPr/>
        </p:nvSpPr>
        <p:spPr>
          <a:xfrm>
            <a:off x="8335065" y="5796472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poh2010non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F2EEC504-AAF8-4B97-AEB7-66B74426D798}"/>
              </a:ext>
            </a:extLst>
          </p:cNvPr>
          <p:cNvSpPr txBox="1"/>
          <p:nvPr/>
        </p:nvSpPr>
        <p:spPr>
          <a:xfrm>
            <a:off x="946150" y="1578356"/>
            <a:ext cx="8972550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Blind Source Separation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Separation of pulse and noise based on statistical independence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Physics based Models (CHROM)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Principle</a:t>
            </a:r>
            <a:r>
              <a:rPr lang="de-DE" dirty="0"/>
              <a:t>: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de-DE" dirty="0" err="1"/>
              <a:t>skin</a:t>
            </a:r>
            <a:r>
              <a:rPr lang="de-DE" dirty="0"/>
              <a:t>-light-</a:t>
            </a:r>
            <a:r>
              <a:rPr lang="de-DE" dirty="0" err="1"/>
              <a:t>reflection</a:t>
            </a:r>
            <a:r>
              <a:rPr lang="de-DE" dirty="0"/>
              <a:t> </a:t>
            </a:r>
            <a:r>
              <a:rPr lang="de-DE" dirty="0" err="1"/>
              <a:t>properties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robust real-time </a:t>
            </a:r>
            <a:r>
              <a:rPr lang="de-DE" dirty="0" err="1"/>
              <a:t>tracking</a:t>
            </a:r>
            <a:endParaRPr lang="de-DE" dirty="0"/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Deep Learning Models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Principle</a:t>
            </a:r>
            <a:r>
              <a:rPr lang="de-DE" dirty="0"/>
              <a:t>: </a:t>
            </a:r>
            <a:r>
              <a:rPr lang="de-DE" dirty="0" err="1"/>
              <a:t>Uses</a:t>
            </a:r>
            <a:r>
              <a:rPr lang="de-DE" dirty="0"/>
              <a:t> </a:t>
            </a:r>
            <a:r>
              <a:rPr lang="de-DE" dirty="0" err="1"/>
              <a:t>neural</a:t>
            </a:r>
            <a:r>
              <a:rPr lang="de-DE" dirty="0"/>
              <a:t> </a:t>
            </a:r>
            <a:r>
              <a:rPr lang="de-DE" dirty="0" err="1"/>
              <a:t>networks</a:t>
            </a:r>
            <a:r>
              <a:rPr lang="de-DE" dirty="0"/>
              <a:t> high </a:t>
            </a:r>
            <a:r>
              <a:rPr lang="de-DE" dirty="0" err="1"/>
              <a:t>accuracy</a:t>
            </a:r>
            <a:r>
              <a:rPr lang="de-DE" dirty="0"/>
              <a:t>, but </a:t>
            </a:r>
            <a:r>
              <a:rPr lang="de-DE" dirty="0" err="1"/>
              <a:t>faces</a:t>
            </a:r>
            <a:r>
              <a:rPr lang="de-DE" dirty="0"/>
              <a:t> </a:t>
            </a:r>
            <a:r>
              <a:rPr lang="de-DE" dirty="0" err="1"/>
              <a:t>challenges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resource</a:t>
            </a:r>
            <a:r>
              <a:rPr lang="de-DE" dirty="0"/>
              <a:t> </a:t>
            </a:r>
            <a:r>
              <a:rPr lang="de-DE" dirty="0" err="1"/>
              <a:t>demand</a:t>
            </a:r>
            <a:r>
              <a:rPr lang="de-DE" dirty="0"/>
              <a:t> and </a:t>
            </a:r>
            <a:r>
              <a:rPr lang="de-DE" dirty="0" err="1"/>
              <a:t>dataset</a:t>
            </a:r>
            <a:r>
              <a:rPr lang="de-DE" dirty="0"/>
              <a:t> </a:t>
            </a:r>
            <a:r>
              <a:rPr lang="de-DE" dirty="0" err="1"/>
              <a:t>diversity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237635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0C84F-146D-E4DE-A4B4-F754541402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D320C2EB-AF71-C330-9499-83E7498AA4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90A5314-0A23-1580-E04F-92C67946C8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A2EA719E-B4E5-FB52-D390-EEFB083CBE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3EE4F1B7-5646-722D-8832-8AE40DE040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2F5E43B-9CFF-CCA7-12F4-37C57F54F2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E64FC8E2-5D06-5B59-9476-7A4EE58C20EB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BC418DF-1F17-5DE5-AD4A-839E5FA7145A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69D2E20-DF5C-8151-C87E-88C4D9C6FFD1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C6CB249F-F49A-CC46-1F6C-E2AC1C26A370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5477878-57B0-EFBA-F1C9-35BB221670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9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22AC523-9086-4945-64F3-A2FDF351DE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E0CB7D9-06BB-60E3-9D4F-4E0D7A745CB7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(Blind Source Separation)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F73EE34-2C05-19FC-E11D-664DB31B76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4837" y="1516451"/>
            <a:ext cx="4141327" cy="21683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8EFCA93-C4F0-13D9-378F-C23148C86EA3}"/>
                  </a:ext>
                </a:extLst>
              </p:cNvPr>
              <p:cNvSpPr txBox="1"/>
              <p:nvPr/>
            </p:nvSpPr>
            <p:spPr>
              <a:xfrm>
                <a:off x="800100" y="1481942"/>
                <a:ext cx="6534150" cy="6677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Signal </a:t>
                </a:r>
                <a:r>
                  <a:rPr lang="de-DE" dirty="0" err="1"/>
                  <a:t>Mixture</a:t>
                </a:r>
                <a:r>
                  <a:rPr lang="de-DE" dirty="0"/>
                  <a:t> </a:t>
                </a:r>
              </a:p>
              <a:p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de-DE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red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green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blue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A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∗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motion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pulse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b="0" i="1" smtClean="0">
                                    <a:latin typeface="Cambria Math" panose="02040503050406030204" pitchFamily="18" charset="0"/>
                                  </a:rPr>
                                  <m:t>light</m:t>
                                </m:r>
                              </m:sub>
                            </m:sSub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</m:oMath>
                </a14:m>
                <a:endParaRPr lang="de-DE" dirty="0"/>
              </a:p>
              <a:p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observed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(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raw</a:t>
                </a:r>
                <a:r>
                  <a:rPr lang="de-DE" dirty="0"/>
                  <a:t> RGB form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camera</a:t>
                </a:r>
                <a:r>
                  <a:rPr lang="de-DE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A</m:t>
                    </m:r>
                  </m:oMath>
                </a14:m>
                <a:r>
                  <a:rPr lang="de-DE" dirty="0"/>
                  <a:t>: Mixing </a:t>
                </a:r>
                <a:r>
                  <a:rPr lang="de-DE" dirty="0" err="1"/>
                  <a:t>matrix</a:t>
                </a:r>
                <a:r>
                  <a:rPr lang="de-DE" dirty="0"/>
                  <a:t> (</a:t>
                </a:r>
                <a:r>
                  <a:rPr lang="de-DE" dirty="0" err="1"/>
                  <a:t>how</a:t>
                </a:r>
                <a:r>
                  <a:rPr lang="de-DE" dirty="0"/>
                  <a:t> different </a:t>
                </a:r>
                <a:r>
                  <a:rPr lang="de-DE" dirty="0" err="1"/>
                  <a:t>sources</a:t>
                </a:r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combined</a:t>
                </a:r>
                <a:r>
                  <a:rPr lang="de-DE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s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dirty="0"/>
                  <a:t> Independent </a:t>
                </a:r>
                <a:r>
                  <a:rPr lang="de-DE" dirty="0" err="1"/>
                  <a:t>sources</a:t>
                </a:r>
                <a:r>
                  <a:rPr lang="de-DE" dirty="0"/>
                  <a:t> (pulse, </a:t>
                </a:r>
                <a:r>
                  <a:rPr lang="de-DE" dirty="0" err="1"/>
                  <a:t>motion</a:t>
                </a:r>
                <a:r>
                  <a:rPr lang="de-DE" dirty="0"/>
                  <a:t>, light </a:t>
                </a:r>
                <a:r>
                  <a:rPr lang="de-DE" dirty="0" err="1"/>
                  <a:t>noise</a:t>
                </a:r>
                <a:r>
                  <a:rPr lang="de-DE" dirty="0"/>
                  <a:t>)</a:t>
                </a:r>
                <a:r>
                  <a:rPr lang="de-DE" baseline="30000" dirty="0"/>
                  <a:t>1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aseline="300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Goal find an </a:t>
                </a:r>
                <a:r>
                  <a:rPr lang="de-DE" dirty="0" err="1"/>
                  <a:t>Unmixing</a:t>
                </a:r>
                <a:r>
                  <a:rPr lang="de-DE" dirty="0"/>
                  <a:t> Matrix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motion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pulse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s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light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W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∗</m:t>
                    </m:r>
                  </m:oMath>
                </a14:m>
                <a:r>
                  <a:rPr lang="de-DE" dirty="0"/>
                  <a:t>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red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green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e>
                            <m:sSub>
                              <m:sSubPr>
                                <m:ctrlPr>
                                  <a:rPr lang="de-DE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de-DE" i="1">
                                    <a:latin typeface="Cambria Math" panose="02040503050406030204" pitchFamily="18" charset="0"/>
                                  </a:rPr>
                                  <m:t>blue</m:t>
                                </m:r>
                              </m:sub>
                            </m:sSub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t</m:t>
                            </m:r>
                            <m:r>
                              <a:rPr lang="de-DE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eqArr>
                      </m:e>
                    </m:d>
                  </m:oMath>
                </a14:m>
                <a:endParaRPr lang="de-DE" b="0" dirty="0"/>
              </a:p>
              <a:p>
                <a:r>
                  <a:rPr lang="de-DE" b="0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r>
                  <a:rPr lang="de-DE" b="0" dirty="0"/>
                  <a:t>	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endParaRPr lang="de-DE" baseline="30000" dirty="0"/>
              </a:p>
              <a:p>
                <a:endParaRPr lang="de-DE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E8EFCA93-C4F0-13D9-378F-C23148C86E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481942"/>
                <a:ext cx="6534150" cy="6677084"/>
              </a:xfrm>
              <a:prstGeom prst="rect">
                <a:avLst/>
              </a:prstGeom>
              <a:blipFill>
                <a:blip r:embed="rId3"/>
                <a:stretch>
                  <a:fillRect l="-560" t="-36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474F4448-BD66-0863-9158-28FA201EBC7A}"/>
              </a:ext>
            </a:extLst>
          </p:cNvPr>
          <p:cNvSpPr txBox="1"/>
          <p:nvPr/>
        </p:nvSpPr>
        <p:spPr>
          <a:xfrm>
            <a:off x="7768454" y="3686794"/>
            <a:ext cx="4265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Separating independent sources from raw skin color channels (RGB) using the JADE algorithm for rPPG</a:t>
            </a:r>
            <a:r>
              <a:rPr lang="en-US" sz="1400" baseline="30000" dirty="0"/>
              <a:t>1</a:t>
            </a:r>
            <a:endParaRPr lang="de-DE" sz="1400" baseline="300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A8D8ABD-A5E1-2F0A-C1FD-ED24C94BC229}"/>
              </a:ext>
            </a:extLst>
          </p:cNvPr>
          <p:cNvSpPr txBox="1"/>
          <p:nvPr/>
        </p:nvSpPr>
        <p:spPr>
          <a:xfrm>
            <a:off x="5777671" y="57998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poh2010non</a:t>
            </a:r>
          </a:p>
        </p:txBody>
      </p:sp>
    </p:spTree>
    <p:extLst>
      <p:ext uri="{BB962C8B-B14F-4D97-AF65-F5344CB8AC3E}">
        <p14:creationId xmlns:p14="http://schemas.microsoft.com/office/powerpoint/2010/main" val="17008540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2053FF-F36D-C9C1-5913-22B773A3C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42610286-C92E-3570-282C-90670F5D98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95DAE9D-8CDC-67B5-632D-9A8D795E63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31E5E414-8C5D-7F75-C415-B8C1BA8939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4B6ECFC0-42E5-E5DB-908E-E426B9BC9E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7461997A-36DD-40F9-E2F5-CB8CFD4CC0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059BC67B-0EBF-2137-27F8-2523CF27D61C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9BCE4818-0F1C-684D-AB20-97D8ED48B7D4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F22A7AE5-CD0B-BF85-2331-1F7ABD0F0618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BAD6845-47AD-B93C-E350-4F8398DCD331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643E14-58DA-465F-D96C-8CBB3596C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10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F79AB43-CCBB-26CD-07B5-E26DAB3A1B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284120C-AC08-B94E-C6D7-28FC8E5F4601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(Blind Source Separation)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59525ADC-05CD-E6CC-D256-C7EDE5BB48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4329" y="1540976"/>
            <a:ext cx="4141327" cy="21683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94248B6-2296-4CCA-BF1D-B716838DFAFA}"/>
                  </a:ext>
                </a:extLst>
              </p:cNvPr>
              <p:cNvSpPr txBox="1"/>
              <p:nvPr/>
            </p:nvSpPr>
            <p:spPr>
              <a:xfrm>
                <a:off x="800100" y="1481942"/>
                <a:ext cx="6534150" cy="74789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b="0" dirty="0" err="1"/>
                  <a:t>Statistically</a:t>
                </a:r>
                <a:r>
                  <a:rPr lang="de-DE" b="0" dirty="0"/>
                  <a:t> </a:t>
                </a:r>
                <a:r>
                  <a:rPr lang="de-DE" b="0" dirty="0" err="1"/>
                  <a:t>independent</a:t>
                </a:r>
                <a:r>
                  <a:rPr lang="de-DE" b="0" dirty="0"/>
                  <a:t> </a:t>
                </a:r>
                <a:r>
                  <a:rPr lang="de-DE" b="0" dirty="0" err="1"/>
                  <a:t>from</a:t>
                </a:r>
                <a:r>
                  <a:rPr lang="de-DE" b="0" dirty="0"/>
                  <a:t> </a:t>
                </a:r>
                <a:r>
                  <a:rPr lang="de-DE" b="0" dirty="0" err="1"/>
                  <a:t>each</a:t>
                </a:r>
                <a:r>
                  <a:rPr lang="de-DE" b="0" dirty="0"/>
                  <a:t> </a:t>
                </a:r>
                <a:r>
                  <a:rPr lang="de-DE" b="0" dirty="0" err="1"/>
                  <a:t>other</a:t>
                </a:r>
                <a:r>
                  <a:rPr lang="de-DE" b="0" dirty="0"/>
                  <a:t> (light, </a:t>
                </a:r>
                <a:r>
                  <a:rPr lang="de-DE" b="0" dirty="0" err="1"/>
                  <a:t>movement</a:t>
                </a:r>
                <a:r>
                  <a:rPr lang="de-DE" b="0" dirty="0"/>
                  <a:t>, pulse)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JADE (Joint </a:t>
                </a:r>
                <a:r>
                  <a:rPr lang="de-DE" dirty="0" err="1"/>
                  <a:t>Approximate</a:t>
                </a:r>
                <a:r>
                  <a:rPr lang="de-DE" dirty="0"/>
                  <a:t> </a:t>
                </a:r>
                <a:r>
                  <a:rPr lang="de-DE" dirty="0" err="1"/>
                  <a:t>Diagonalization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Eigenmatrices)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Selection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de-DE" b="0" dirty="0" err="1"/>
                  <a:t>extracted</a:t>
                </a:r>
                <a:r>
                  <a:rPr lang="de-DE" b="0" dirty="0"/>
                  <a:t> </a:t>
                </a:r>
                <a:r>
                  <a:rPr lang="de-DE" b="0" dirty="0" err="1"/>
                  <a:t>as</a:t>
                </a:r>
                <a:r>
                  <a:rPr lang="de-DE" b="0" dirty="0"/>
                  <a:t> pulse </a:t>
                </a:r>
                <a:r>
                  <a:rPr lang="de-DE" b="0" dirty="0" err="1"/>
                  <a:t>signal</a:t>
                </a: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endParaRPr lang="de-DE" b="0" dirty="0"/>
              </a:p>
              <a:p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r>
                  <a:rPr lang="de-DE" b="0" dirty="0"/>
                  <a:t>	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endParaRPr lang="de-DE" baseline="30000" dirty="0"/>
              </a:p>
              <a:p>
                <a:endParaRPr lang="de-DE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94248B6-2296-4CCA-BF1D-B716838DFA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481942"/>
                <a:ext cx="6534150" cy="7478970"/>
              </a:xfrm>
              <a:prstGeom prst="rect">
                <a:avLst/>
              </a:prstGeom>
              <a:blipFill>
                <a:blip r:embed="rId3"/>
                <a:stretch>
                  <a:fillRect l="-560" t="-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D01FFD48-0934-4FA4-5A7E-CC579D9B3552}"/>
              </a:ext>
            </a:extLst>
          </p:cNvPr>
          <p:cNvSpPr txBox="1"/>
          <p:nvPr/>
        </p:nvSpPr>
        <p:spPr>
          <a:xfrm>
            <a:off x="7731539" y="4039871"/>
            <a:ext cx="4265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Separating independent sources from raw skin color channels (RGB) using the JADE algorithm for rPPG</a:t>
            </a:r>
            <a:r>
              <a:rPr lang="en-US" sz="1400" baseline="30000" dirty="0"/>
              <a:t>1</a:t>
            </a:r>
            <a:endParaRPr lang="de-DE" sz="1400" baseline="300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864E5C2D-98F3-DA22-CFD1-22CC5D9B98CB}"/>
              </a:ext>
            </a:extLst>
          </p:cNvPr>
          <p:cNvSpPr txBox="1"/>
          <p:nvPr/>
        </p:nvSpPr>
        <p:spPr>
          <a:xfrm>
            <a:off x="838200" y="5808875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poh2010non</a:t>
            </a:r>
          </a:p>
        </p:txBody>
      </p:sp>
    </p:spTree>
    <p:extLst>
      <p:ext uri="{BB962C8B-B14F-4D97-AF65-F5344CB8AC3E}">
        <p14:creationId xmlns:p14="http://schemas.microsoft.com/office/powerpoint/2010/main" val="37827860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8D92C1-ACDF-8E4C-1124-7D7670706C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2FB95FA7-7FD5-FBAC-20FA-0B908E17AF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8B2135EB-FE86-570D-9EDC-19B3FDE2FC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8874739E-EF4D-EC5C-844B-A13DB9FE99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AA82BC96-1AB3-5CCB-7462-50FB29C128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AC91E884-D389-4C47-E695-0C4F57FF17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6444F48-AB29-4529-962F-DFDF3F5173F5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EE1C955-62D6-06F5-ACED-86C0D51C181E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96E732A9-98ED-502C-88D8-223ECBC7047F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D8A63B5-6BDE-146C-CE00-A50D192002BA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ED532EE-A2EE-F677-57D7-5B0F0F1F60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11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9B3FB1C-C90D-FEF4-DA5E-1E08CB902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025D4752-5F21-BABB-F198-CD322376D6B8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(Blind Source Separation)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48924C42-D18C-84E9-E07D-54495EB314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92459" y="1973624"/>
            <a:ext cx="4141327" cy="2168359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C7C2433-11AC-E364-D933-E7D5D1B80440}"/>
                  </a:ext>
                </a:extLst>
              </p:cNvPr>
              <p:cNvSpPr txBox="1"/>
              <p:nvPr/>
            </p:nvSpPr>
            <p:spPr>
              <a:xfrm>
                <a:off x="800100" y="1481942"/>
                <a:ext cx="6534150" cy="22159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Fast Fourier Transform Analysis: </a:t>
                </a:r>
                <a:r>
                  <a:rPr lang="de-DE" dirty="0" err="1"/>
                  <a:t>identify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dominant pulse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de-DE" dirty="0"/>
                  <a:t> </a:t>
                </a:r>
              </a:p>
              <a:p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Bandpass</a:t>
                </a:r>
                <a:r>
                  <a:rPr lang="de-DE" dirty="0"/>
                  <a:t> Limit: 0.75 – 4.0 Hz (45-240 BPM)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exclude</a:t>
                </a:r>
                <a:r>
                  <a:rPr lang="de-DE" dirty="0"/>
                  <a:t> non-</a:t>
                </a:r>
                <a:r>
                  <a:rPr lang="de-DE" dirty="0" err="1"/>
                  <a:t>cardiac</a:t>
                </a:r>
                <a:r>
                  <a:rPr lang="de-DE" dirty="0"/>
                  <a:t> </a:t>
                </a:r>
                <a:r>
                  <a:rPr lang="de-DE" dirty="0" err="1"/>
                  <a:t>noise</a:t>
                </a:r>
                <a:r>
                  <a:rPr lang="de-DE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Outlier</a:t>
                </a:r>
                <a:r>
                  <a:rPr lang="de-DE" dirty="0"/>
                  <a:t> </a:t>
                </a:r>
                <a:r>
                  <a:rPr lang="de-DE" dirty="0" err="1"/>
                  <a:t>Rejection</a:t>
                </a:r>
                <a:r>
                  <a:rPr lang="de-DE" dirty="0"/>
                  <a:t>: Max. jump </a:t>
                </a:r>
                <a:r>
                  <a:rPr lang="de-DE" dirty="0" err="1"/>
                  <a:t>of</a:t>
                </a:r>
                <a:r>
                  <a:rPr lang="de-DE" dirty="0"/>
                  <a:t> 12BPM </a:t>
                </a:r>
                <a:r>
                  <a:rPr lang="de-DE" dirty="0" err="1"/>
                  <a:t>allowed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consecutive</a:t>
                </a:r>
                <a:r>
                  <a:rPr lang="de-DE" dirty="0"/>
                  <a:t> </a:t>
                </a:r>
                <a:r>
                  <a:rPr lang="de-DE" dirty="0" err="1"/>
                  <a:t>measurements</a:t>
                </a:r>
                <a:r>
                  <a:rPr lang="de-DE" dirty="0"/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aseline="300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C7C2433-11AC-E364-D933-E7D5D1B804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481942"/>
                <a:ext cx="6534150" cy="2215991"/>
              </a:xfrm>
              <a:prstGeom prst="rect">
                <a:avLst/>
              </a:prstGeom>
              <a:blipFill>
                <a:blip r:embed="rId3"/>
                <a:stretch>
                  <a:fillRect l="-560" t="-109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1841494C-2633-1C71-9798-8C1FA7F8EDCE}"/>
              </a:ext>
            </a:extLst>
          </p:cNvPr>
          <p:cNvSpPr txBox="1"/>
          <p:nvPr/>
        </p:nvSpPr>
        <p:spPr>
          <a:xfrm>
            <a:off x="7775989" y="4569550"/>
            <a:ext cx="4265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Separating independent sources from raw skin color channels (RGB) using the JADE algorithm for rPPG</a:t>
            </a:r>
            <a:r>
              <a:rPr lang="en-US" sz="1400" baseline="30000" dirty="0"/>
              <a:t>1</a:t>
            </a:r>
            <a:endParaRPr lang="de-DE" sz="1400" baseline="300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7149E237-EE51-4B12-D43F-6BAFB4F17339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poh2010non</a:t>
            </a:r>
          </a:p>
        </p:txBody>
      </p:sp>
    </p:spTree>
    <p:extLst>
      <p:ext uri="{BB962C8B-B14F-4D97-AF65-F5344CB8AC3E}">
        <p14:creationId xmlns:p14="http://schemas.microsoft.com/office/powerpoint/2010/main" val="3277596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1B5E8C-E018-3A18-B0C7-B6C3198D37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35381472-6544-CE91-FD87-9BAAF47D1B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0BC8B2A6-F976-EB04-75FB-CF2077084D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E75CA7F4-2436-7BF2-2B02-C4CA90C09C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4AD8E853-2645-42AB-DF58-D94372DEE2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C3F1A62-79E3-6565-6823-4E18A0A424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104D21D1-0B69-D503-D520-EC99B4AEDD7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DF3800B9-C739-C054-44FF-1379A819FFCF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0A1AF1BF-B237-4BE1-FE6E-36F353F2863A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0E4C46FE-DDA0-EB34-786C-7B7F9E52314C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F3656A3-71BB-FF0D-6465-9D095DA2D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12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2F8102C-B898-6541-506C-A5703A0F67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B3D29B6-39D0-F2BB-93F8-471E050F5031}"/>
              </a:ext>
            </a:extLst>
          </p:cNvPr>
          <p:cNvSpPr txBox="1"/>
          <p:nvPr/>
        </p:nvSpPr>
        <p:spPr>
          <a:xfrm>
            <a:off x="800100" y="923028"/>
            <a:ext cx="8121650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(Blind Source Separation)</a:t>
            </a:r>
          </a:p>
          <a:p>
            <a:endParaRPr lang="de-DE" sz="2400" dirty="0"/>
          </a:p>
          <a:p>
            <a:endParaRPr lang="de-DE" sz="2400" dirty="0"/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A6849A69-26E1-D122-BD90-ADC6649BA924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poh2010non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94D7342-3642-76CB-D4F0-8EA6A628FDF7}"/>
                  </a:ext>
                </a:extLst>
              </p:cNvPr>
              <p:cNvSpPr txBox="1"/>
              <p:nvPr/>
            </p:nvSpPr>
            <p:spPr>
              <a:xfrm>
                <a:off x="800100" y="1504950"/>
                <a:ext cx="7670800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Beer-Lambert Law: Light </a:t>
                </a:r>
                <a:r>
                  <a:rPr lang="de-DE" dirty="0" err="1"/>
                  <a:t>absorption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technically</a:t>
                </a:r>
                <a:r>
                  <a:rPr lang="de-DE" dirty="0"/>
                  <a:t> non-linear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Linear </a:t>
                </a:r>
                <a:r>
                  <a:rPr lang="de-DE" dirty="0" err="1"/>
                  <a:t>Approximaton</a:t>
                </a:r>
                <a:r>
                  <a:rPr lang="de-DE" dirty="0"/>
                  <a:t> </a:t>
                </a:r>
                <a:r>
                  <a:rPr lang="de-DE" dirty="0" err="1"/>
                  <a:t>is</a:t>
                </a:r>
                <a:r>
                  <a:rPr lang="de-DE" dirty="0"/>
                  <a:t> </a:t>
                </a:r>
                <a:r>
                  <a:rPr lang="de-DE" dirty="0" err="1"/>
                  <a:t>used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simplify</a:t>
                </a:r>
                <a:r>
                  <a:rPr lang="de-DE" dirty="0"/>
                  <a:t> </a:t>
                </a:r>
                <a:r>
                  <a:rPr lang="de-DE" dirty="0" err="1"/>
                  <a:t>separation</a:t>
                </a: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Sensitiv </a:t>
                </a:r>
                <a:r>
                  <a:rPr lang="de-DE" dirty="0" err="1"/>
                  <a:t>to</a:t>
                </a:r>
                <a:r>
                  <a:rPr lang="de-DE" dirty="0"/>
                  <a:t> Illumination: System </a:t>
                </a:r>
                <a:r>
                  <a:rPr lang="de-DE" dirty="0" err="1"/>
                  <a:t>requires</a:t>
                </a:r>
                <a:r>
                  <a:rPr lang="de-DE" dirty="0"/>
                  <a:t> </a:t>
                </a:r>
                <a:r>
                  <a:rPr lang="de-DE" dirty="0" err="1"/>
                  <a:t>adequate</a:t>
                </a:r>
                <a:r>
                  <a:rPr lang="de-DE" dirty="0"/>
                  <a:t> </a:t>
                </a:r>
                <a:r>
                  <a:rPr lang="de-DE" dirty="0" err="1"/>
                  <a:t>lighting</a:t>
                </a: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Component</a:t>
                </a:r>
                <a:r>
                  <a:rPr lang="de-DE" dirty="0"/>
                  <a:t> </a:t>
                </a:r>
                <a:r>
                  <a:rPr lang="de-DE" dirty="0" err="1"/>
                  <a:t>Misidentification</a:t>
                </a:r>
                <a:r>
                  <a:rPr lang="de-DE" dirty="0"/>
                  <a:t>: Risk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selecting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wrong</a:t>
                </a:r>
                <a:r>
                  <a:rPr lang="de-DE" dirty="0"/>
                  <a:t> source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if</a:t>
                </a:r>
                <a:r>
                  <a:rPr lang="de-DE" b="0" dirty="0"/>
                  <a:t> </a:t>
                </a:r>
                <a:r>
                  <a:rPr lang="de-DE" b="0" dirty="0" err="1"/>
                  <a:t>motion</a:t>
                </a:r>
                <a:r>
                  <a:rPr lang="de-DE" b="0" dirty="0"/>
                  <a:t> </a:t>
                </a:r>
                <a:r>
                  <a:rPr lang="de-DE" b="0" dirty="0" err="1"/>
                  <a:t>are</a:t>
                </a:r>
                <a:r>
                  <a:rPr lang="de-DE" b="0" dirty="0"/>
                  <a:t> light </a:t>
                </a:r>
                <a:r>
                  <a:rPr lang="de-DE" b="0" dirty="0" err="1"/>
                  <a:t>is</a:t>
                </a:r>
                <a:r>
                  <a:rPr lang="de-DE" b="0" dirty="0"/>
                  <a:t> extreme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b="0" dirty="0" err="1"/>
                  <a:t>It</a:t>
                </a:r>
                <a:r>
                  <a:rPr lang="de-DE" b="0" dirty="0"/>
                  <a:t> </a:t>
                </a:r>
                <a:r>
                  <a:rPr lang="de-DE" b="0" dirty="0" err="1"/>
                  <a:t>takes</a:t>
                </a:r>
                <a:r>
                  <a:rPr lang="de-DE" b="0" dirty="0"/>
                  <a:t> a </a:t>
                </a:r>
                <a:r>
                  <a:rPr lang="de-DE" b="0" dirty="0" err="1"/>
                  <a:t>long</a:t>
                </a:r>
                <a:r>
                  <a:rPr lang="de-DE" b="0" dirty="0"/>
                  <a:t> time </a:t>
                </a:r>
                <a:r>
                  <a:rPr lang="de-DE" b="0" dirty="0" err="1"/>
                  <a:t>to</a:t>
                </a:r>
                <a:r>
                  <a:rPr lang="de-DE" b="0" dirty="0"/>
                  <a:t> </a:t>
                </a:r>
                <a:r>
                  <a:rPr lang="de-DE" b="0" dirty="0" err="1"/>
                  <a:t>extract</a:t>
                </a:r>
                <a:r>
                  <a:rPr lang="de-DE" b="0" dirty="0"/>
                  <a:t> </a:t>
                </a:r>
                <a:r>
                  <a:rPr lang="de-DE" b="0" dirty="0" err="1"/>
                  <a:t>the</a:t>
                </a:r>
                <a:r>
                  <a:rPr lang="de-DE" b="0" dirty="0"/>
                  <a:t> </a:t>
                </a:r>
                <a:r>
                  <a:rPr lang="de-DE" b="0" dirty="0" err="1"/>
                  <a:t>data</a:t>
                </a:r>
                <a:r>
                  <a:rPr lang="de-DE" b="0" dirty="0"/>
                  <a:t> 30s </a:t>
                </a:r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894D7342-3642-76CB-D4F0-8EA6A628FD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0100" y="1504950"/>
                <a:ext cx="7670800" cy="2031325"/>
              </a:xfrm>
              <a:prstGeom prst="rect">
                <a:avLst/>
              </a:prstGeom>
              <a:blipFill>
                <a:blip r:embed="rId2"/>
                <a:stretch>
                  <a:fillRect l="-477" t="-1502" b="-4204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718335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7F6838-6BDD-FA24-13BF-068E81867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9100388F-E96C-8341-5079-52C80E694C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5B9EC84-EAA5-B800-F7FC-FECA3302F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F26F1BB2-394C-F308-FF9C-D12CBBE2DD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F9CC3A6D-3C7A-2D99-0631-213EA914B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B50FFDEE-19ED-4751-26EA-F1E1D4B67A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D22C1FAB-4ABD-8EBB-CCE7-7C6564CE0E0F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03FB0D83-EBC4-CF5E-EB2D-90EF6F2915C8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2A6114B-64CC-4D49-8912-BF73894CA9B1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7639E182-41D0-CC57-26E1-8690BAA7B3AD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E7AC78C-8610-43A2-1F5B-855DB5AC57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13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F467CAD-94B9-AF23-4966-CF1B5F7EA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E7BDF329-5C49-9D8D-674D-94D274555D94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(CHROM)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F3E610F6-BD12-30FE-94A4-F9CFF7665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5834" y="923028"/>
            <a:ext cx="3146062" cy="21692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2A32147A-B447-9F7D-2375-258E7C733E9B}"/>
                  </a:ext>
                </a:extLst>
              </p:cNvPr>
              <p:cNvSpPr txBox="1"/>
              <p:nvPr/>
            </p:nvSpPr>
            <p:spPr>
              <a:xfrm>
                <a:off x="834390" y="1408023"/>
                <a:ext cx="7092950" cy="29725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 err="1"/>
                  <a:t>Physicsbased</a:t>
                </a:r>
                <a:r>
                  <a:rPr lang="de-DE" dirty="0"/>
                  <a:t> alternative: </a:t>
                </a:r>
                <a:r>
                  <a:rPr lang="de-DE" dirty="0" err="1"/>
                  <a:t>Chrominance-based</a:t>
                </a:r>
                <a:r>
                  <a:rPr lang="de-DE" dirty="0"/>
                  <a:t> </a:t>
                </a:r>
                <a:r>
                  <a:rPr lang="de-DE" dirty="0" err="1"/>
                  <a:t>method</a:t>
                </a:r>
                <a:endParaRPr lang="de-DE" dirty="0"/>
              </a:p>
              <a:p>
                <a:r>
                  <a:rPr lang="de-DE" dirty="0"/>
                  <a:t>  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C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* (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dc</m:t>
                            </m:r>
                          </m:sub>
                        </m:sSub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b="0" i="1" smtClean="0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b="0" i="1" smtClean="0">
                        <a:latin typeface="Cambria Math" panose="02040503050406030204" pitchFamily="18" charset="0"/>
                      </a:rPr>
                      <m:t>I</m:t>
                    </m:r>
                    <m:r>
                      <a:rPr lang="de-DE" b="0" i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it-IT" dirty="0"/>
                  <a:t> </a:t>
                </a:r>
                <a:r>
                  <a:rPr lang="it-IT" dirty="0" err="1"/>
                  <a:t>Intensity</a:t>
                </a:r>
                <a:r>
                  <a:rPr lang="it-IT" dirty="0"/>
                  <a:t> of the light source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dc</m:t>
                            </m:r>
                          </m:sub>
                        </m:sSub>
                      </m:sub>
                    </m:sSub>
                  </m:oMath>
                </a14:m>
                <a:r>
                  <a:rPr lang="it-IT" dirty="0"/>
                  <a:t>: </a:t>
                </a:r>
                <a:r>
                  <a:rPr lang="it-IT" dirty="0" err="1"/>
                  <a:t>Static</a:t>
                </a:r>
                <a:r>
                  <a:rPr lang="it-IT" dirty="0"/>
                  <a:t> </a:t>
                </a:r>
                <a:r>
                  <a:rPr lang="it-IT" dirty="0" err="1"/>
                  <a:t>Skin</a:t>
                </a:r>
                <a:r>
                  <a:rPr lang="it-IT" dirty="0"/>
                  <a:t> </a:t>
                </a:r>
                <a:r>
                  <a:rPr lang="it-IT" dirty="0" err="1"/>
                  <a:t>Reflection</a:t>
                </a:r>
                <a:r>
                  <a:rPr lang="it-IT" dirty="0"/>
                  <a:t> (Constant color of the </a:t>
                </a:r>
                <a:r>
                  <a:rPr lang="it-IT" dirty="0" err="1"/>
                  <a:t>skin</a:t>
                </a:r>
                <a:r>
                  <a:rPr lang="it-IT" dirty="0"/>
                  <a:t> </a:t>
                </a:r>
                <a:r>
                  <a:rPr lang="it-IT" dirty="0" err="1"/>
                  <a:t>tissue</a:t>
                </a:r>
                <a:r>
                  <a:rPr lang="it-IT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</m:oMath>
                </a14:m>
                <a:r>
                  <a:rPr lang="it-IT" dirty="0"/>
                  <a:t>: Pulsatile Component (The </a:t>
                </a:r>
                <a:r>
                  <a:rPr lang="it-IT" dirty="0" err="1"/>
                  <a:t>signal</a:t>
                </a:r>
                <a:r>
                  <a:rPr lang="it-IT" dirty="0"/>
                  <a:t> of </a:t>
                </a:r>
                <a:r>
                  <a:rPr lang="it-IT" dirty="0" err="1"/>
                  <a:t>interest</a:t>
                </a:r>
                <a:r>
                  <a:rPr lang="it-IT" dirty="0"/>
                  <a:t>: </a:t>
                </a:r>
                <a:r>
                  <a:rPr lang="it-IT" dirty="0" err="1"/>
                  <a:t>blood</a:t>
                </a:r>
                <a:r>
                  <a:rPr lang="it-IT" dirty="0"/>
                  <a:t> Volume </a:t>
                </a:r>
                <a:r>
                  <a:rPr lang="it-IT" dirty="0" err="1"/>
                  <a:t>changes</a:t>
                </a:r>
                <a:r>
                  <a:rPr lang="it-IT" dirty="0"/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it-IT" dirty="0"/>
                  <a:t>: Specular </a:t>
                </a:r>
                <a:r>
                  <a:rPr lang="it-IT" dirty="0" err="1"/>
                  <a:t>Reflection</a:t>
                </a:r>
                <a:r>
                  <a:rPr lang="it-IT" dirty="0"/>
                  <a:t> (Mirror-like </a:t>
                </a:r>
                <a:r>
                  <a:rPr lang="it-IT" dirty="0" err="1"/>
                  <a:t>Reflection</a:t>
                </a:r>
                <a:r>
                  <a:rPr lang="it-IT" dirty="0"/>
                  <a:t>)</a:t>
                </a:r>
              </a:p>
              <a:p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Diffuse light </a:t>
                </a:r>
                <a:r>
                  <a:rPr lang="de-DE" dirty="0" err="1"/>
                  <a:t>travels</a:t>
                </a:r>
                <a:r>
                  <a:rPr lang="de-DE" dirty="0"/>
                  <a:t> </a:t>
                </a:r>
                <a:r>
                  <a:rPr lang="de-DE" dirty="0" err="1"/>
                  <a:t>through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skin</a:t>
                </a:r>
                <a:r>
                  <a:rPr lang="de-DE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dc</m:t>
                            </m:r>
                          </m:sub>
                        </m:sSub>
                      </m:sub>
                    </m:sSub>
                    <m:r>
                      <a:rPr lang="de-DE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sSub>
                          <m:sSubPr>
                            <m:ctrlPr>
                              <a:rPr lang="de-DE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C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de-DE" i="1">
                                <a:latin typeface="Cambria Math" panose="02040503050406030204" pitchFamily="18" charset="0"/>
                              </a:rPr>
                              <m:t>i</m:t>
                            </m:r>
                          </m:sub>
                        </m:sSub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b="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2A32147A-B447-9F7D-2375-258E7C733E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90" y="1408023"/>
                <a:ext cx="7092950" cy="2972545"/>
              </a:xfrm>
              <a:prstGeom prst="rect">
                <a:avLst/>
              </a:prstGeom>
              <a:blipFill>
                <a:blip r:embed="rId3"/>
                <a:stretch>
                  <a:fillRect l="-602" t="-1025" b="-1639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E37396CD-3933-C7D1-3FD3-D4E7075B6BFE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dehaan2013chrom</a:t>
            </a:r>
            <a:r>
              <a:rPr lang="de-DE" sz="1200" dirty="0"/>
              <a:t> </a:t>
            </a:r>
            <a:endParaRPr lang="de-DE" sz="1200" dirty="0">
              <a:solidFill>
                <a:schemeClr val="dk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2EA9C157-1D87-2FCE-2006-41D4ABCD4551}"/>
              </a:ext>
            </a:extLst>
          </p:cNvPr>
          <p:cNvSpPr txBox="1"/>
          <p:nvPr/>
        </p:nvSpPr>
        <p:spPr>
          <a:xfrm>
            <a:off x="7849187" y="3121223"/>
            <a:ext cx="4265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illustration depicts light reflection on the skin </a:t>
            </a:r>
            <a:r>
              <a:rPr lang="en-US" sz="1400" baseline="30000" dirty="0"/>
              <a:t>1</a:t>
            </a:r>
            <a:endParaRPr lang="de-DE" sz="1400" baseline="30000" dirty="0"/>
          </a:p>
        </p:txBody>
      </p:sp>
    </p:spTree>
    <p:extLst>
      <p:ext uri="{BB962C8B-B14F-4D97-AF65-F5344CB8AC3E}">
        <p14:creationId xmlns:p14="http://schemas.microsoft.com/office/powerpoint/2010/main" val="41342314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750094-9769-B4D3-2DDA-5FCD60261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CBE73249-AEE4-345A-5BE6-626516EE62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50BD809-39A4-883E-620B-41E6B1C696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AB229C3F-F8EF-EA98-5769-BBD456C99A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E62C61EE-0040-8D75-CEC8-591AAB8B99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989C161C-7EDB-0B09-8EE0-9D89AB1B4D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11BDD8E-2983-3857-FFC8-9B0B4D844DB1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90EE5BA-7B40-8425-FDF7-A673DBFBB9F4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01CE5BB4-EB1E-3130-5844-FB559A792ABE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71B800DF-CC0F-F765-0070-3E22F873ADD4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ABB3999-7241-7F4A-46F5-A5400C9A9E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14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FA71C66E-A7D4-A63C-439A-C0A933A07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8A1F95D-E16B-D9EB-5722-CECD82760DC4}"/>
              </a:ext>
            </a:extLst>
          </p:cNvPr>
          <p:cNvSpPr txBox="1"/>
          <p:nvPr/>
        </p:nvSpPr>
        <p:spPr>
          <a:xfrm>
            <a:off x="800100" y="92302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(CHROM)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2F32FBF-AE6B-1C3C-00AB-0AB2F695154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5834" y="923028"/>
            <a:ext cx="3146062" cy="216923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D0AEE23-8012-21E4-D891-5539E0DDB0DD}"/>
                  </a:ext>
                </a:extLst>
              </p:cNvPr>
              <p:cNvSpPr txBox="1"/>
              <p:nvPr/>
            </p:nvSpPr>
            <p:spPr>
              <a:xfrm>
                <a:off x="834390" y="1408023"/>
                <a:ext cx="7092950" cy="471667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C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de-DE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 ∗ (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dc</m:t>
                              </m:r>
                            </m:sub>
                          </m:sSub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de-DE" i="1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</m:sub>
                          </m:sSub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de-DE" i="1">
                              <a:latin typeface="Cambria Math" panose="02040503050406030204" pitchFamily="18" charset="0"/>
                            </a:rPr>
                            <m:t>i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To eliminate the </a:t>
                </a:r>
                <a:r>
                  <a:rPr lang="it-IT" dirty="0" err="1"/>
                  <a:t>noise</a:t>
                </a:r>
                <a:r>
                  <a:rPr lang="it-IT" dirty="0"/>
                  <a:t>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i="1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it-IT" dirty="0"/>
                  <a:t> and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i="1">
                        <a:latin typeface="Cambria Math" panose="02040503050406030204" pitchFamily="18" charset="0"/>
                      </a:rPr>
                      <m:t>I</m:t>
                    </m:r>
                  </m:oMath>
                </a14:m>
                <a:r>
                  <a:rPr lang="it-IT" dirty="0"/>
                  <a:t>) , the 3D </a:t>
                </a:r>
                <a:r>
                  <a:rPr lang="it-IT" dirty="0" err="1"/>
                  <a:t>signals</a:t>
                </a:r>
                <a:r>
                  <a:rPr lang="it-IT" dirty="0"/>
                  <a:t> are </a:t>
                </a:r>
                <a:r>
                  <a:rPr lang="it-IT" dirty="0" err="1"/>
                  <a:t>projected</a:t>
                </a:r>
                <a:r>
                  <a:rPr lang="it-IT" dirty="0"/>
                  <a:t> </a:t>
                </a:r>
                <a:r>
                  <a:rPr lang="it-IT" dirty="0" err="1"/>
                  <a:t>into</a:t>
                </a:r>
                <a:r>
                  <a:rPr lang="it-IT" dirty="0"/>
                  <a:t> a 2d </a:t>
                </a:r>
                <a:r>
                  <a:rPr lang="it-IT" dirty="0" err="1"/>
                  <a:t>space</a:t>
                </a:r>
                <a:r>
                  <a:rPr lang="it-IT" dirty="0"/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/>
                  <a:t>RGB </a:t>
                </a:r>
                <a:r>
                  <a:rPr lang="it-IT" dirty="0" err="1"/>
                  <a:t>signals</a:t>
                </a:r>
                <a:r>
                  <a:rPr lang="it-IT" dirty="0"/>
                  <a:t> are </a:t>
                </a:r>
                <a:r>
                  <a:rPr lang="it-IT" dirty="0" err="1"/>
                  <a:t>projected</a:t>
                </a:r>
                <a:r>
                  <a:rPr lang="it-IT" dirty="0"/>
                  <a:t> </a:t>
                </a:r>
                <a:r>
                  <a:rPr lang="it-IT" dirty="0" err="1"/>
                  <a:t>onto</a:t>
                </a:r>
                <a:r>
                  <a:rPr lang="it-IT" dirty="0"/>
                  <a:t> a </a:t>
                </a:r>
                <a:r>
                  <a:rPr lang="it-IT" dirty="0" err="1"/>
                  <a:t>plane</a:t>
                </a:r>
                <a:r>
                  <a:rPr lang="it-IT" dirty="0"/>
                  <a:t> </a:t>
                </a:r>
                <a:r>
                  <a:rPr lang="it-IT" dirty="0" err="1"/>
                  <a:t>perpendicular</a:t>
                </a:r>
                <a:r>
                  <a:rPr lang="it-IT" dirty="0"/>
                  <a:t> to the standard </a:t>
                </a:r>
                <a:r>
                  <a:rPr lang="it-IT" dirty="0" err="1"/>
                  <a:t>skin</a:t>
                </a:r>
                <a:r>
                  <a:rPr lang="it-IT" dirty="0"/>
                  <a:t> color </a:t>
                </a:r>
                <a:r>
                  <a:rPr lang="it-IT" dirty="0" err="1"/>
                  <a:t>vector</a:t>
                </a:r>
                <a:r>
                  <a:rPr lang="it-IT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[0.77,0.51,0.38]</m:t>
                    </m:r>
                  </m:oMath>
                </a14:m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it-IT" dirty="0" err="1"/>
                  <a:t>Cancels</a:t>
                </a:r>
                <a:r>
                  <a:rPr lang="it-IT" dirty="0"/>
                  <a:t> out </a:t>
                </a:r>
                <a:r>
                  <a:rPr lang="it-IT" dirty="0" err="1"/>
                  <a:t>noise</a:t>
                </a:r>
                <a:r>
                  <a:rPr lang="it-IT" dirty="0"/>
                  <a:t> like light </a:t>
                </a:r>
                <a:r>
                  <a:rPr lang="it-IT" dirty="0" err="1"/>
                  <a:t>intensity</a:t>
                </a:r>
                <a:r>
                  <a:rPr lang="it-IT" dirty="0"/>
                  <a:t> </a:t>
                </a:r>
                <a:r>
                  <a:rPr lang="it-IT" dirty="0" err="1"/>
                  <a:t>changes</a:t>
                </a:r>
                <a:r>
                  <a:rPr lang="it-IT" dirty="0"/>
                  <a:t> and </a:t>
                </a:r>
                <a:r>
                  <a:rPr lang="it-IT" dirty="0" err="1"/>
                  <a:t>surface</a:t>
                </a:r>
                <a:r>
                  <a:rPr lang="it-IT" dirty="0"/>
                  <a:t> </a:t>
                </a:r>
                <a:r>
                  <a:rPr lang="it-IT" dirty="0" err="1"/>
                  <a:t>glare</a:t>
                </a:r>
                <a:endParaRPr lang="it-IT" dirty="0"/>
              </a:p>
              <a:p>
                <a:endParaRPr lang="it-IT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it-IT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3 ∗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− 2 ∗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s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 1,5 *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R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+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 - 1.5 * </m:t>
                    </m:r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B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n</m:t>
                        </m:r>
                      </m:sub>
                    </m:sSub>
                  </m:oMath>
                </a14:m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de-DE" dirty="0"/>
                  <a:t>X and Y </a:t>
                </a:r>
                <a:r>
                  <a:rPr lang="de-DE" dirty="0" err="1"/>
                  <a:t>are</a:t>
                </a:r>
                <a:r>
                  <a:rPr lang="de-DE" dirty="0"/>
                  <a:t> </a:t>
                </a:r>
                <a:r>
                  <a:rPr lang="de-DE" dirty="0" err="1"/>
                  <a:t>perpendicular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skin</a:t>
                </a:r>
                <a:r>
                  <a:rPr lang="de-DE" dirty="0"/>
                  <a:t> </a:t>
                </a:r>
                <a:r>
                  <a:rPr lang="de-DE" dirty="0" err="1"/>
                  <a:t>vector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out </a:t>
                </a:r>
                <a:r>
                  <a:rPr lang="de-DE" dirty="0" err="1"/>
                  <a:t>noise</a:t>
                </a:r>
                <a:endParaRPr lang="de-DE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 −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∗ 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de-DE" b="0" dirty="0">
                    <a:ea typeface="Cambria Math" panose="02040503050406030204" pitchFamily="18" charset="0"/>
                  </a:rPr>
                  <a:t> (</a:t>
                </a:r>
                <a:r>
                  <a:rPr lang="de-DE" b="0" dirty="0" err="1">
                    <a:ea typeface="Cambria Math" panose="02040503050406030204" pitchFamily="18" charset="0"/>
                  </a:rPr>
                  <a:t>signals</a:t>
                </a:r>
                <a:r>
                  <a:rPr lang="de-DE" b="0" dirty="0">
                    <a:ea typeface="Cambria Math" panose="02040503050406030204" pitchFamily="18" charset="0"/>
                  </a:rPr>
                  <a:t> </a:t>
                </a:r>
                <a:r>
                  <a:rPr lang="de-DE" b="0" dirty="0" err="1">
                    <a:ea typeface="Cambria Math" panose="02040503050406030204" pitchFamily="18" charset="0"/>
                  </a:rPr>
                  <a:t>are</a:t>
                </a:r>
                <a:r>
                  <a:rPr lang="de-DE" b="0" dirty="0">
                    <a:ea typeface="Cambria Math" panose="02040503050406030204" pitchFamily="18" charset="0"/>
                  </a:rPr>
                  <a:t> </a:t>
                </a:r>
                <a:r>
                  <a:rPr lang="de-DE" b="0" dirty="0" err="1">
                    <a:ea typeface="Cambria Math" panose="02040503050406030204" pitchFamily="18" charset="0"/>
                  </a:rPr>
                  <a:t>merged</a:t>
                </a:r>
                <a:r>
                  <a:rPr lang="de-DE" b="0" dirty="0">
                    <a:ea typeface="Cambria Math" panose="02040503050406030204" pitchFamily="18" charset="0"/>
                  </a:rPr>
                  <a:t> </a:t>
                </a:r>
                <a:r>
                  <a:rPr lang="de-DE" b="0" dirty="0" err="1">
                    <a:ea typeface="Cambria Math" panose="02040503050406030204" pitchFamily="18" charset="0"/>
                  </a:rPr>
                  <a:t>together</a:t>
                </a:r>
                <a:r>
                  <a:rPr lang="de-DE" b="0" dirty="0">
                    <a:ea typeface="Cambria Math" panose="02040503050406030204" pitchFamily="18" charset="0"/>
                  </a:rPr>
                  <a:t>)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 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</m:den>
                    </m:f>
                  </m:oMath>
                </a14:m>
                <a:r>
                  <a:rPr lang="de-DE" b="0" dirty="0">
                    <a:ea typeface="Cambria Math" panose="02040503050406030204" pitchFamily="18" charset="0"/>
                  </a:rPr>
                  <a:t> (</a:t>
                </a:r>
                <a:r>
                  <a:rPr lang="de-DE" b="0" dirty="0" err="1">
                    <a:ea typeface="Cambria Math" panose="02040503050406030204" pitchFamily="18" charset="0"/>
                  </a:rPr>
                  <a:t>cancel</a:t>
                </a:r>
                <a:r>
                  <a:rPr lang="de-DE" b="0" dirty="0">
                    <a:ea typeface="Cambria Math" panose="02040503050406030204" pitchFamily="18" charset="0"/>
                  </a:rPr>
                  <a:t> out </a:t>
                </a:r>
                <a:r>
                  <a:rPr lang="de-DE" b="0" dirty="0" err="1">
                    <a:ea typeface="Cambria Math" panose="02040503050406030204" pitchFamily="18" charset="0"/>
                  </a:rPr>
                  <a:t>remaining</a:t>
                </a:r>
                <a:r>
                  <a:rPr lang="de-DE" b="0" dirty="0">
                    <a:ea typeface="Cambria Math" panose="02040503050406030204" pitchFamily="18" charset="0"/>
                  </a:rPr>
                  <a:t> </a:t>
                </a:r>
                <a:r>
                  <a:rPr lang="de-DE" b="0" dirty="0" err="1">
                    <a:ea typeface="Cambria Math" panose="02040503050406030204" pitchFamily="18" charset="0"/>
                  </a:rPr>
                  <a:t>motion</a:t>
                </a:r>
                <a:r>
                  <a:rPr lang="de-DE" dirty="0">
                    <a:ea typeface="Cambria Math" panose="02040503050406030204" pitchFamily="18" charset="0"/>
                  </a:rPr>
                  <a:t> </a:t>
                </a:r>
                <a:r>
                  <a:rPr lang="de-DE" dirty="0" err="1">
                    <a:ea typeface="Cambria Math" panose="02040503050406030204" pitchFamily="18" charset="0"/>
                  </a:rPr>
                  <a:t>noise</a:t>
                </a:r>
                <a:r>
                  <a:rPr lang="de-DE" dirty="0">
                    <a:ea typeface="Cambria Math" panose="02040503050406030204" pitchFamily="18" charset="0"/>
                  </a:rPr>
                  <a:t>)</a:t>
                </a:r>
                <a:endParaRPr lang="de-DE" b="0" dirty="0">
                  <a:ea typeface="Cambria Math" panose="02040503050406030204" pitchFamily="18" charset="0"/>
                </a:endParaRPr>
              </a:p>
              <a:p>
                <a:endParaRPr lang="de-DE" b="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it-IT" dirty="0"/>
              </a:p>
              <a:p>
                <a:endParaRPr lang="it-IT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D0AEE23-8012-21E4-D891-5539E0DDB0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4390" y="1408023"/>
                <a:ext cx="7092950" cy="4716676"/>
              </a:xfrm>
              <a:prstGeom prst="rect">
                <a:avLst/>
              </a:prstGeom>
              <a:blipFill>
                <a:blip r:embed="rId3"/>
                <a:stretch>
                  <a:fillRect l="-602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feld 8">
            <a:extLst>
              <a:ext uri="{FF2B5EF4-FFF2-40B4-BE49-F238E27FC236}">
                <a16:creationId xmlns:a16="http://schemas.microsoft.com/office/drawing/2014/main" id="{B531D492-C2FC-071F-4E44-961E737C36A7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dehaan2013chrom</a:t>
            </a:r>
            <a:r>
              <a:rPr lang="de-DE" sz="1200" dirty="0"/>
              <a:t> </a:t>
            </a:r>
            <a:endParaRPr lang="de-DE" sz="1200" dirty="0">
              <a:solidFill>
                <a:schemeClr val="dk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3F0A95CA-3792-078D-57C1-58973B11C7DE}"/>
              </a:ext>
            </a:extLst>
          </p:cNvPr>
          <p:cNvSpPr txBox="1"/>
          <p:nvPr/>
        </p:nvSpPr>
        <p:spPr>
          <a:xfrm>
            <a:off x="7849187" y="3121223"/>
            <a:ext cx="426595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The illustration depicts light reflection on the skin </a:t>
            </a:r>
            <a:r>
              <a:rPr lang="en-US" sz="1400" baseline="30000" dirty="0"/>
              <a:t>1</a:t>
            </a:r>
            <a:endParaRPr lang="de-DE" sz="1400" baseline="30000" dirty="0"/>
          </a:p>
        </p:txBody>
      </p:sp>
    </p:spTree>
    <p:extLst>
      <p:ext uri="{BB962C8B-B14F-4D97-AF65-F5344CB8AC3E}">
        <p14:creationId xmlns:p14="http://schemas.microsoft.com/office/powerpoint/2010/main" val="14456417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5A43A-EE7E-7068-AFF9-C51A7499B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D58AA274-7DD2-D0A3-5DB8-710FBCBEAA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AAC9E8C-50D8-F99A-334E-1A2CA33D19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26CCDB00-71AB-8B60-B67B-02EEFA4370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F3451722-DC29-2C8F-156A-C20109997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11E7F07A-7C8F-EB12-A236-0BB5B99D5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0F97F4B-D33D-0DA9-0D0A-B4E884B83FC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29FB3589-534E-BBCD-BB40-08A036D18C17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CCBCC6A9-CDD5-19D5-0C3C-2BC43F69BDAE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1C1A646-2035-6383-92B8-25067D045A0C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55FAC87-9ACB-EFA6-1633-C412028852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15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37AB8EB-A174-B633-1D2D-A332FAED5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8E415D31-57EA-6B96-AD2A-A95E70CB5ED8}"/>
              </a:ext>
            </a:extLst>
          </p:cNvPr>
          <p:cNvSpPr txBox="1"/>
          <p:nvPr/>
        </p:nvSpPr>
        <p:spPr>
          <a:xfrm>
            <a:off x="736600" y="903136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(CHROM)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F8B1C9D0-E3B0-2250-ECA2-7040F8D46740}"/>
              </a:ext>
            </a:extLst>
          </p:cNvPr>
          <p:cNvSpPr txBox="1"/>
          <p:nvPr/>
        </p:nvSpPr>
        <p:spPr>
          <a:xfrm>
            <a:off x="736600" y="1511883"/>
            <a:ext cx="741045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Bandpass</a:t>
            </a:r>
            <a:r>
              <a:rPr lang="de-DE" dirty="0"/>
              <a:t> </a:t>
            </a:r>
            <a:r>
              <a:rPr lang="de-DE" dirty="0" err="1"/>
              <a:t>Filtering</a:t>
            </a:r>
            <a:r>
              <a:rPr lang="de-DE" dirty="0"/>
              <a:t> (0.7 – 4.0Hz) (42-240BPM)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Processing in 1.6s </a:t>
            </a:r>
            <a:r>
              <a:rPr lang="de-DE" dirty="0" err="1"/>
              <a:t>intervals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Fast Fourier Transform -&gt; </a:t>
            </a:r>
            <a:r>
              <a:rPr lang="de-DE" dirty="0" err="1"/>
              <a:t>identifies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strongest</a:t>
            </a:r>
            <a:r>
              <a:rPr lang="de-DE" dirty="0"/>
              <a:t> </a:t>
            </a:r>
            <a:r>
              <a:rPr lang="de-DE" dirty="0" err="1"/>
              <a:t>periodic</a:t>
            </a:r>
            <a:r>
              <a:rPr lang="de-DE" dirty="0"/>
              <a:t> </a:t>
            </a:r>
            <a:r>
              <a:rPr lang="de-DE" dirty="0" err="1"/>
              <a:t>signal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final </a:t>
            </a:r>
            <a:r>
              <a:rPr lang="de-DE" dirty="0" err="1"/>
              <a:t>heart</a:t>
            </a:r>
            <a:r>
              <a:rPr lang="de-DE" dirty="0"/>
              <a:t> rate</a:t>
            </a:r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Achieves 98% prediction accuracy in stable conditions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92% correlation with medical-grade contact sensors (Ground Truth)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Maintains a 48% success rate under heavy subject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Outperforms Blind Source Separation (ICA/PCA), which drops to 4–11% in identical scenarios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Robust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across</a:t>
            </a:r>
            <a:r>
              <a:rPr lang="de-DE" dirty="0"/>
              <a:t> different </a:t>
            </a:r>
            <a:r>
              <a:rPr lang="de-DE" dirty="0" err="1"/>
              <a:t>skin</a:t>
            </a:r>
            <a:r>
              <a:rPr lang="de-DE" dirty="0"/>
              <a:t> </a:t>
            </a:r>
            <a:r>
              <a:rPr lang="de-DE" dirty="0" err="1"/>
              <a:t>tones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Low </a:t>
            </a:r>
            <a:r>
              <a:rPr lang="de-DE" dirty="0" err="1"/>
              <a:t>latency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optimized</a:t>
            </a:r>
            <a:r>
              <a:rPr lang="de-DE" dirty="0"/>
              <a:t> 1.6s (</a:t>
            </a:r>
            <a:r>
              <a:rPr lang="de-DE" dirty="0" err="1"/>
              <a:t>vs</a:t>
            </a:r>
            <a:r>
              <a:rPr lang="de-DE" dirty="0"/>
              <a:t> 30s </a:t>
            </a:r>
            <a:r>
              <a:rPr lang="de-DE" dirty="0" err="1"/>
              <a:t>with</a:t>
            </a:r>
            <a:r>
              <a:rPr lang="de-DE" dirty="0"/>
              <a:t> Blind Source Separation)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A9F8592-AE0A-58BD-C1AE-7D71000129F8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dehaan2013chrom</a:t>
            </a:r>
            <a:r>
              <a:rPr lang="de-DE" sz="1200" dirty="0"/>
              <a:t> </a:t>
            </a:r>
            <a:endParaRPr lang="de-DE" sz="1200" dirty="0">
              <a:solidFill>
                <a:schemeClr val="dk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915796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ED1507-6FC3-8DFB-C313-1604C04070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89C545A5-70DF-DDC2-4820-15FE684CEB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498A70C6-D6E2-0F91-02DE-909EAD6B79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1C871C86-F320-D595-2A35-B1D0EBC2B9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88E52F86-CA59-F2E8-2A03-85E9E67D29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898FA3A5-9E81-2687-6B17-4ECC38ADAC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665CA7D-3434-7A3A-002E-CE4C3A5969A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2B1701D-DD18-E523-E25C-50D04706E6DE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A1DD4C7F-8E41-DA72-8740-8E56FC895D9C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F16B9157-925B-D9B8-3B4F-FC32114B8056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8CD9C6-FB5D-9620-E490-CB9D4028AD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16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692F2DF-AC4F-2FAB-7007-8A896452A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ED1A414-50D4-855A-76D9-C7415FBB04E0}"/>
              </a:ext>
            </a:extLst>
          </p:cNvPr>
          <p:cNvSpPr txBox="1"/>
          <p:nvPr/>
        </p:nvSpPr>
        <p:spPr>
          <a:xfrm>
            <a:off x="736600" y="938458"/>
            <a:ext cx="81216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/>
              <a:t>Remote </a:t>
            </a:r>
            <a:r>
              <a:rPr lang="de-DE" sz="2400" dirty="0" err="1"/>
              <a:t>Photoplethysmography</a:t>
            </a:r>
            <a:r>
              <a:rPr lang="de-DE" sz="2400" dirty="0"/>
              <a:t> (Deep Learning Models)</a:t>
            </a:r>
          </a:p>
          <a:p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0BCC12E-D990-F27C-373F-5B49781135FF}"/>
              </a:ext>
            </a:extLst>
          </p:cNvPr>
          <p:cNvSpPr txBox="1"/>
          <p:nvPr/>
        </p:nvSpPr>
        <p:spPr>
          <a:xfrm>
            <a:off x="800100" y="1490483"/>
            <a:ext cx="65341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Transition </a:t>
            </a:r>
            <a:r>
              <a:rPr lang="de-DE" dirty="0" err="1"/>
              <a:t>to</a:t>
            </a:r>
            <a:r>
              <a:rPr lang="de-DE" dirty="0"/>
              <a:t> End-</a:t>
            </a:r>
            <a:r>
              <a:rPr lang="de-DE" dirty="0" err="1"/>
              <a:t>to</a:t>
            </a:r>
            <a:r>
              <a:rPr lang="de-DE" dirty="0"/>
              <a:t>-End Deep Learning Models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Fully </a:t>
            </a:r>
            <a:r>
              <a:rPr lang="de-DE" dirty="0" err="1"/>
              <a:t>automated</a:t>
            </a:r>
            <a:r>
              <a:rPr lang="de-DE" dirty="0"/>
              <a:t>: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manual</a:t>
            </a:r>
            <a:r>
              <a:rPr lang="de-DE" dirty="0"/>
              <a:t> Face/ROI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required</a:t>
            </a:r>
            <a:endParaRPr lang="de-DE" dirty="0"/>
          </a:p>
          <a:p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Data </a:t>
            </a:r>
            <a:r>
              <a:rPr lang="de-DE" dirty="0" err="1"/>
              <a:t>challenges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Significant</a:t>
            </a:r>
            <a:r>
              <a:rPr lang="de-DE" dirty="0"/>
              <a:t> lack </a:t>
            </a:r>
            <a:r>
              <a:rPr lang="de-DE" dirty="0" err="1"/>
              <a:t>of</a:t>
            </a:r>
            <a:r>
              <a:rPr lang="de-DE" dirty="0"/>
              <a:t> large-</a:t>
            </a:r>
            <a:r>
              <a:rPr lang="de-DE" dirty="0" err="1"/>
              <a:t>scale</a:t>
            </a:r>
            <a:r>
              <a:rPr lang="de-DE" dirty="0"/>
              <a:t>, high-quality </a:t>
            </a:r>
            <a:r>
              <a:rPr lang="de-DE" dirty="0" err="1"/>
              <a:t>datasets</a:t>
            </a:r>
            <a:endParaRPr lang="de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Underrepresentation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diverse </a:t>
            </a:r>
            <a:r>
              <a:rPr lang="de-DE" dirty="0" err="1"/>
              <a:t>age</a:t>
            </a:r>
            <a:r>
              <a:rPr lang="de-DE" dirty="0"/>
              <a:t> </a:t>
            </a:r>
            <a:r>
              <a:rPr lang="de-DE" dirty="0" err="1"/>
              <a:t>groups</a:t>
            </a:r>
            <a:r>
              <a:rPr lang="de-DE" dirty="0"/>
              <a:t> and </a:t>
            </a:r>
            <a:r>
              <a:rPr lang="de-DE" dirty="0" err="1"/>
              <a:t>skin</a:t>
            </a:r>
            <a:r>
              <a:rPr lang="de-DE" dirty="0"/>
              <a:t> </a:t>
            </a:r>
            <a:r>
              <a:rPr lang="de-DE" dirty="0" err="1"/>
              <a:t>pigmentations</a:t>
            </a:r>
            <a:endParaRPr lang="de-DE" dirty="0"/>
          </a:p>
          <a:p>
            <a:pPr lvl="1"/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Solution – Transfer Learning: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Utilizing</a:t>
            </a:r>
            <a:r>
              <a:rPr lang="de-DE" dirty="0"/>
              <a:t> </a:t>
            </a:r>
            <a:r>
              <a:rPr lang="de-DE" dirty="0" err="1"/>
              <a:t>pre-trained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overcome</a:t>
            </a:r>
            <a:r>
              <a:rPr lang="de-DE" dirty="0"/>
              <a:t> limited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availability</a:t>
            </a:r>
            <a:endParaRPr lang="de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Mobile Optimization</a:t>
            </a:r>
            <a:r>
              <a:rPr lang="en-US" b="1" dirty="0"/>
              <a:t>:</a:t>
            </a:r>
            <a:r>
              <a:rPr lang="en-US" dirty="0"/>
              <a:t> Ongoing research into lightweight</a:t>
            </a:r>
            <a:r>
              <a:rPr lang="en-US" b="1" dirty="0"/>
              <a:t> </a:t>
            </a:r>
            <a:r>
              <a:rPr lang="en-US" dirty="0"/>
              <a:t>models for real-time deployment on smartphone hardware.</a:t>
            </a:r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9B90EEE-0396-F86E-AD79-0E60306489C9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Debnath25</a:t>
            </a:r>
          </a:p>
        </p:txBody>
      </p:sp>
    </p:spTree>
    <p:extLst>
      <p:ext uri="{BB962C8B-B14F-4D97-AF65-F5344CB8AC3E}">
        <p14:creationId xmlns:p14="http://schemas.microsoft.com/office/powerpoint/2010/main" val="700826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E2DEF-ACA1-6C92-DD8A-704A45816D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5DCF08CB-2D9C-E2BA-1383-4559BAE046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A8986E0-4D34-8A17-792B-43910EA65E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3C02D496-6859-8317-F82D-59FC66170F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8F2C75AF-DC88-2BEB-B18C-BC59F24F469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812B2356-A46B-9E7A-3E30-EFAC646C49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11CF846F-0F31-AC34-5EE3-CFF64CB3CE21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3ACA3870-D578-085F-6F6C-6F101E16A9F8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266B54C9-C64C-A6CB-6457-E2FDC89B03C8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0F768CB3-14C7-B976-2D72-58902D47E190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1B206DF-45D7-47D2-6DCA-46373A5E3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17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44089CA5-97B9-1C4F-6774-4C500F9F3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9D4E428-D6B7-7A33-625C-097E0E85D200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latin typeface="Univers Condensed" panose="020B0506020202050204" pitchFamily="34" charset="0"/>
              </a:rPr>
              <a:t>Sonification</a:t>
            </a:r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781818C1-B3EB-507E-8F91-4707D12AA53F}"/>
              </a:ext>
            </a:extLst>
          </p:cNvPr>
          <p:cNvSpPr txBox="1"/>
          <p:nvPr/>
        </p:nvSpPr>
        <p:spPr>
          <a:xfrm>
            <a:off x="838200" y="1460598"/>
            <a:ext cx="653415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Passive Music Listening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Passive Music Listening has mixed results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Effectiveness depends on the user specific purpose and intention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Ecological Perception: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Uses natural associations (e. g. distance) to represent intensity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Example: Decreasing volume mimics a sound source moving away,  making data changes intuitive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Data-</a:t>
            </a:r>
            <a:r>
              <a:rPr lang="de-DE" dirty="0" err="1"/>
              <a:t>to</a:t>
            </a:r>
            <a:r>
              <a:rPr lang="de-DE" dirty="0"/>
              <a:t>-Music Transformation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direct</a:t>
            </a:r>
            <a:r>
              <a:rPr lang="de-DE" dirty="0"/>
              <a:t> </a:t>
            </a:r>
            <a:r>
              <a:rPr lang="de-DE" dirty="0" err="1"/>
              <a:t>transformation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heartbeat</a:t>
            </a:r>
            <a:r>
              <a:rPr lang="de-DE" dirty="0"/>
              <a:t> </a:t>
            </a:r>
            <a:r>
              <a:rPr lang="de-DE" dirty="0" err="1"/>
              <a:t>data</a:t>
            </a:r>
            <a:r>
              <a:rPr lang="de-DE" dirty="0"/>
              <a:t> </a:t>
            </a:r>
            <a:r>
              <a:rPr lang="de-DE" dirty="0" err="1"/>
              <a:t>into</a:t>
            </a:r>
            <a:r>
              <a:rPr lang="de-DE" dirty="0"/>
              <a:t> an </a:t>
            </a:r>
            <a:r>
              <a:rPr lang="de-DE" dirty="0" err="1"/>
              <a:t>auditory</a:t>
            </a:r>
            <a:r>
              <a:rPr lang="de-DE" dirty="0"/>
              <a:t> stream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Continuous</a:t>
            </a:r>
            <a:r>
              <a:rPr lang="de-DE" dirty="0"/>
              <a:t> </a:t>
            </a:r>
            <a:r>
              <a:rPr lang="de-DE" dirty="0" err="1"/>
              <a:t>parameter</a:t>
            </a:r>
            <a:r>
              <a:rPr lang="de-DE" dirty="0"/>
              <a:t> </a:t>
            </a:r>
            <a:r>
              <a:rPr lang="de-DE" dirty="0" err="1"/>
              <a:t>mapping</a:t>
            </a:r>
            <a:r>
              <a:rPr lang="de-DE" dirty="0"/>
              <a:t>: </a:t>
            </a:r>
            <a:r>
              <a:rPr lang="de-DE" dirty="0" err="1"/>
              <a:t>ensures</a:t>
            </a:r>
            <a:r>
              <a:rPr lang="de-DE" dirty="0"/>
              <a:t> immediate, fluid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physiological</a:t>
            </a:r>
            <a:r>
              <a:rPr lang="de-DE" dirty="0"/>
              <a:t> </a:t>
            </a:r>
            <a:r>
              <a:rPr lang="de-DE" dirty="0" err="1"/>
              <a:t>changes</a:t>
            </a:r>
            <a:endParaRPr lang="de-DE" dirty="0"/>
          </a:p>
          <a:p>
            <a:endParaRPr lang="de-DE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81403A09-E921-1A52-2AEF-98A69AD99F1F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dubus2013systematic</a:t>
            </a:r>
          </a:p>
        </p:txBody>
      </p:sp>
    </p:spTree>
    <p:extLst>
      <p:ext uri="{BB962C8B-B14F-4D97-AF65-F5344CB8AC3E}">
        <p14:creationId xmlns:p14="http://schemas.microsoft.com/office/powerpoint/2010/main" val="33184072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427960-77D5-7884-6A7D-B04CCB904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B19C141A-F90C-1150-E6F1-6B065F111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13992127-2043-3FA4-5E0A-DEDB10D2D0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43F4647A-59F4-E814-7C58-6BFCBE2C23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9CA464B9-AC13-9E03-8900-E719C8B793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3510C928-A803-692C-FEF5-69D52271F0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127F91F9-0648-9800-8018-6A4DD2DFC41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41692B46-9563-F503-5C4F-723D487CCE00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4485C40A-2ADB-1861-EF81-112C43D4BBE1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DD2720E-7D94-C0E7-B91C-1AD5B9BD1265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8337082-C412-EE5B-D438-874325826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18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85544291-5263-AAF8-8E2C-B21D69B53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5720943B-BEC8-CA07-89DC-BE94E0EA38E3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latin typeface="Univers Condensed" panose="020B0506020202050204" pitchFamily="34" charset="0"/>
              </a:rPr>
              <a:t>Sonification</a:t>
            </a:r>
            <a:endParaRPr lang="de-DE" sz="2400" dirty="0">
              <a:latin typeface="Univers Condensed" panose="020B0506020202050204" pitchFamily="34" charset="0"/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11E2D715-11EB-8834-ED66-F2CA0282610B}"/>
              </a:ext>
            </a:extLst>
          </p:cNvPr>
          <p:cNvSpPr txBox="1"/>
          <p:nvPr/>
        </p:nvSpPr>
        <p:spPr>
          <a:xfrm>
            <a:off x="838200" y="1460598"/>
            <a:ext cx="653415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Auditory Dimensions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Selection of specific triggers like loudness, pitch or tempo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Create an intuitive feeling for the body’s state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95DE0FC-0670-BF12-524F-C96ADBC0DB12}"/>
              </a:ext>
            </a:extLst>
          </p:cNvPr>
          <p:cNvSpPr txBox="1"/>
          <p:nvPr/>
        </p:nvSpPr>
        <p:spPr>
          <a:xfrm>
            <a:off x="1003990" y="5759993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dubus2013systematic</a:t>
            </a:r>
          </a:p>
        </p:txBody>
      </p:sp>
    </p:spTree>
    <p:extLst>
      <p:ext uri="{BB962C8B-B14F-4D97-AF65-F5344CB8AC3E}">
        <p14:creationId xmlns:p14="http://schemas.microsoft.com/office/powerpoint/2010/main" val="422543479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605B2-D015-2644-81AD-7D3F3EFB7A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BB812958-0B9B-7ECC-0FE3-9DAA2DA646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31E9F1A-A3C0-2423-C1C7-0FAAFC2D41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D83A8D41-D7AE-7FA8-F884-0DA7B7A75F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AAC3C831-C41A-ADB9-48D9-EBD8795F52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6F646132-AA57-C46D-C594-6815E51371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4208467F-EBBA-5BE6-C3A0-E3F75B0778BA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F3859AF-7862-98C3-CEB9-532065AD6FFA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0EDE8DC4-AB89-E1C2-7431-192047CF0C39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88D81DB-3BFD-B4E3-2817-B81C63EF19F4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3F4343A-CDE4-D8B5-DAF1-7B5016D727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19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C3A5D50-48B4-6B50-6F64-CAE9F1C92E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CAEE0FB-3C66-43CA-4B03-1E6C0BDED28F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Regeneration and Consciousness Regulation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50543B3E-211E-56C1-2061-17EB639F3027}"/>
              </a:ext>
            </a:extLst>
          </p:cNvPr>
          <p:cNvSpPr txBox="1"/>
          <p:nvPr/>
        </p:nvSpPr>
        <p:spPr>
          <a:xfrm>
            <a:off x="838200" y="1663700"/>
            <a:ext cx="68834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Cardiovascular Synchronization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Resonance Frequency: Achieved at ~6 breaths per minute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Harmonic State: Heart rate and blood pressure synchronize for maximum efficiency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Optimized gas exchange in the lungs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Less strain on the cardiovascular system</a:t>
            </a:r>
          </a:p>
          <a:p>
            <a:pPr lvl="1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Physiological Impact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Deep Relaxation Response in the body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auditory signal acts as a meditative anchor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Mindfulness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Enhances sensitivity to thoughts and emotional states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Promotes an attitude of curiosity, openness and acceptance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Helps to perceive the internal state without judgement</a:t>
            </a:r>
          </a:p>
          <a:p>
            <a:endParaRPr lang="en-US" dirty="0"/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81AE5AE7-52EE-A158-995C-C1A1B20C4BCA}"/>
              </a:ext>
            </a:extLst>
          </p:cNvPr>
          <p:cNvSpPr txBox="1"/>
          <p:nvPr/>
        </p:nvSpPr>
        <p:spPr>
          <a:xfrm>
            <a:off x="9173261" y="5728278"/>
            <a:ext cx="38569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 dirty="0"/>
              <a:t>[1] cf. </a:t>
            </a:r>
            <a:r>
              <a:rPr lang="de-DE" sz="1200" dirty="0">
                <a:solidFill>
                  <a:schemeClr val="dk1"/>
                </a:solidFill>
              </a:rPr>
              <a:t>lehrer2014heart</a:t>
            </a:r>
          </a:p>
        </p:txBody>
      </p:sp>
    </p:spTree>
    <p:extLst>
      <p:ext uri="{BB962C8B-B14F-4D97-AF65-F5344CB8AC3E}">
        <p14:creationId xmlns:p14="http://schemas.microsoft.com/office/powerpoint/2010/main" val="12938254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D5421-DE3C-B28A-AFFE-FAF073C713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0F6F5E86-AEF4-83A7-909B-4D7778E685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B7F004E9-263A-45FE-58E5-6BEC3C6002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8FE12B31-8196-6318-972F-D9774E9BD6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EA2E5CD5-324D-6AD3-2705-0FA7658515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A00CB83-2E90-11AC-C07E-8181533975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1E12CBC0-A978-4EE0-3B99-1A555DD9BED9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D42B7FD8-7CC6-9F0F-E1BD-57423608E2CC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06A1D65-BEC2-FEF5-8E43-DD43E6D450AC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5DDF7F3-B798-6D22-19E3-E83B0AD6CCC9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8F9F947-D7E2-CB83-A51B-690B6F6C5A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20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77CB5597-CBCD-3AD9-41A8-B3DE4669C8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7F7759A5-AF1E-A815-4EBE-6929FB07606C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Case Studies (</a:t>
            </a:r>
            <a:r>
              <a:rPr lang="de-DE" sz="2400" dirty="0" err="1">
                <a:latin typeface="Univers Condensed" panose="020B0506020202050204" pitchFamily="34" charset="0"/>
              </a:rPr>
              <a:t>Unwind</a:t>
            </a:r>
            <a:r>
              <a:rPr lang="de-DE" sz="2400" dirty="0">
                <a:latin typeface="Univers Condensed" panose="020B0506020202050204" pitchFamily="34" charset="0"/>
              </a:rPr>
              <a:t> System)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DCB5CC86-A140-E52F-D445-3A927DFAEB33}"/>
              </a:ext>
            </a:extLst>
          </p:cNvPr>
          <p:cNvSpPr txBox="1"/>
          <p:nvPr/>
        </p:nvSpPr>
        <p:spPr>
          <a:xfrm>
            <a:off x="838200" y="1663700"/>
            <a:ext cx="5873750" cy="84023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Concept: Nature </a:t>
            </a:r>
            <a:r>
              <a:rPr lang="de-DE" dirty="0" err="1"/>
              <a:t>soundscapes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sedative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guide</a:t>
            </a:r>
            <a:r>
              <a:rPr lang="de-DE" dirty="0"/>
              <a:t> </a:t>
            </a:r>
            <a:r>
              <a:rPr lang="de-DE" dirty="0" err="1"/>
              <a:t>relaxation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HRV </a:t>
            </a:r>
            <a:r>
              <a:rPr lang="de-DE" dirty="0" err="1"/>
              <a:t>Sonification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Wind Mapping: </a:t>
            </a:r>
            <a:r>
              <a:rPr lang="en-US" dirty="0"/>
              <a:t>Heart Rate Variability (HRV) is mapped to wind sounds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Users adapt their breathing to transform the wind into a smooth, consistent sine wave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Adaptive Soundscape: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LOW HRV (Stress): </a:t>
            </a:r>
            <a:r>
              <a:rPr lang="en-US" dirty="0" err="1"/>
              <a:t>Envinronment</a:t>
            </a:r>
            <a:r>
              <a:rPr lang="en-US" dirty="0"/>
              <a:t> becomes “busy” and complex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High HRV ( Relaxed): Soundscape becomes simple, transparent and calm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lvl="1"/>
            <a:r>
              <a:rPr lang="en-US" dirty="0"/>
              <a:t>			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Unwind</a:t>
            </a:r>
            <a:r>
              <a:rPr lang="de-DE" dirty="0"/>
              <a:t> System -&gt; </a:t>
            </a:r>
            <a:r>
              <a:rPr lang="de-DE" dirty="0" err="1"/>
              <a:t>nature</a:t>
            </a:r>
            <a:r>
              <a:rPr lang="de-DE" dirty="0"/>
              <a:t> </a:t>
            </a:r>
            <a:r>
              <a:rPr lang="de-DE" dirty="0" err="1"/>
              <a:t>soundscapes</a:t>
            </a:r>
            <a:r>
              <a:rPr lang="de-DE" dirty="0"/>
              <a:t> </a:t>
            </a:r>
            <a:r>
              <a:rPr lang="de-DE" dirty="0" err="1"/>
              <a:t>combined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sedative </a:t>
            </a:r>
            <a:r>
              <a:rPr lang="de-DE" dirty="0" err="1"/>
              <a:t>music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Heart rate </a:t>
            </a:r>
            <a:r>
              <a:rPr lang="de-DE" dirty="0" err="1"/>
              <a:t>variability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measured</a:t>
            </a:r>
            <a:r>
              <a:rPr lang="de-DE" dirty="0"/>
              <a:t> -&gt; high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inhalation</a:t>
            </a:r>
            <a:r>
              <a:rPr lang="de-DE" dirty="0"/>
              <a:t> and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exhalation</a:t>
            </a:r>
            <a:r>
              <a:rPr lang="de-DE" dirty="0"/>
              <a:t> -&gt;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mapped</a:t>
            </a:r>
            <a:r>
              <a:rPr lang="de-DE" dirty="0"/>
              <a:t> on wind </a:t>
            </a:r>
            <a:r>
              <a:rPr lang="de-DE" dirty="0" err="1"/>
              <a:t>sounds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Breathing</a:t>
            </a:r>
            <a:r>
              <a:rPr lang="de-DE" dirty="0"/>
              <a:t> </a:t>
            </a:r>
            <a:r>
              <a:rPr lang="de-DE" dirty="0" err="1"/>
              <a:t>pattern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adapted</a:t>
            </a:r>
            <a:r>
              <a:rPr lang="de-DE" dirty="0"/>
              <a:t> </a:t>
            </a:r>
            <a:r>
              <a:rPr lang="de-DE" dirty="0" err="1"/>
              <a:t>that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wind </a:t>
            </a:r>
            <a:r>
              <a:rPr lang="de-DE" dirty="0" err="1"/>
              <a:t>sound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smooth, </a:t>
            </a:r>
            <a:r>
              <a:rPr lang="de-DE" dirty="0" err="1"/>
              <a:t>consistent</a:t>
            </a:r>
            <a:r>
              <a:rPr lang="de-DE" dirty="0"/>
              <a:t> sine </a:t>
            </a:r>
            <a:r>
              <a:rPr lang="de-DE" dirty="0" err="1"/>
              <a:t>wave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Variability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low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</a:t>
            </a:r>
            <a:r>
              <a:rPr lang="de-DE" dirty="0" err="1"/>
              <a:t>busy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Variability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high </a:t>
            </a:r>
            <a:r>
              <a:rPr lang="de-DE" dirty="0" err="1"/>
              <a:t>soundscape</a:t>
            </a:r>
            <a:r>
              <a:rPr lang="de-DE" dirty="0"/>
              <a:t> </a:t>
            </a:r>
            <a:r>
              <a:rPr lang="de-DE" dirty="0" err="1"/>
              <a:t>becomes</a:t>
            </a:r>
            <a:r>
              <a:rPr lang="de-DE" dirty="0"/>
              <a:t> simpler and </a:t>
            </a:r>
            <a:r>
              <a:rPr lang="de-DE" dirty="0" err="1"/>
              <a:t>more</a:t>
            </a:r>
            <a:r>
              <a:rPr lang="de-DE" dirty="0"/>
              <a:t> transparent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Significant</a:t>
            </a:r>
            <a:r>
              <a:rPr lang="de-DE" dirty="0"/>
              <a:t> </a:t>
            </a:r>
            <a:r>
              <a:rPr lang="de-DE" dirty="0" err="1"/>
              <a:t>decrease</a:t>
            </a:r>
            <a:r>
              <a:rPr lang="de-DE" dirty="0"/>
              <a:t> in </a:t>
            </a:r>
            <a:r>
              <a:rPr lang="de-DE" dirty="0" err="1"/>
              <a:t>heart</a:t>
            </a:r>
            <a:r>
              <a:rPr lang="de-DE" dirty="0"/>
              <a:t> rate was </a:t>
            </a:r>
            <a:r>
              <a:rPr lang="de-DE" dirty="0" err="1"/>
              <a:t>found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music</a:t>
            </a:r>
            <a:r>
              <a:rPr lang="de-DE" dirty="0"/>
              <a:t> </a:t>
            </a:r>
            <a:r>
              <a:rPr lang="de-DE" dirty="0" err="1"/>
              <a:t>assisted</a:t>
            </a:r>
            <a:r>
              <a:rPr lang="de-DE" dirty="0"/>
              <a:t> </a:t>
            </a:r>
            <a:r>
              <a:rPr lang="de-DE" dirty="0" err="1"/>
              <a:t>conditions</a:t>
            </a:r>
            <a:r>
              <a:rPr lang="de-DE" dirty="0"/>
              <a:t> and also high </a:t>
            </a:r>
            <a:r>
              <a:rPr lang="de-DE" dirty="0" err="1"/>
              <a:t>reduction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respiration</a:t>
            </a:r>
            <a:r>
              <a:rPr lang="de-DE" dirty="0"/>
              <a:t> rate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70%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Participants</a:t>
            </a:r>
            <a:r>
              <a:rPr lang="de-DE" dirty="0"/>
              <a:t> </a:t>
            </a:r>
            <a:r>
              <a:rPr lang="de-DE" dirty="0" err="1"/>
              <a:t>reported</a:t>
            </a:r>
            <a:r>
              <a:rPr lang="de-DE" dirty="0"/>
              <a:t> </a:t>
            </a:r>
            <a:r>
              <a:rPr lang="de-DE" dirty="0" err="1"/>
              <a:t>nature</a:t>
            </a:r>
            <a:r>
              <a:rPr lang="de-DE" dirty="0"/>
              <a:t> </a:t>
            </a:r>
            <a:r>
              <a:rPr lang="de-DE" dirty="0" err="1"/>
              <a:t>sounds</a:t>
            </a:r>
            <a:r>
              <a:rPr lang="de-DE" dirty="0"/>
              <a:t> </a:t>
            </a:r>
            <a:r>
              <a:rPr lang="de-DE" dirty="0" err="1"/>
              <a:t>helped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image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scenes</a:t>
            </a:r>
            <a:r>
              <a:rPr lang="de-DE" dirty="0"/>
              <a:t> </a:t>
            </a:r>
            <a:r>
              <a:rPr lang="de-DE" dirty="0" err="1"/>
              <a:t>which</a:t>
            </a:r>
            <a:r>
              <a:rPr lang="de-DE" dirty="0"/>
              <a:t> </a:t>
            </a:r>
            <a:r>
              <a:rPr lang="de-DE" dirty="0" err="1"/>
              <a:t>helped</a:t>
            </a:r>
            <a:r>
              <a:rPr lang="de-DE" dirty="0"/>
              <a:t> </a:t>
            </a:r>
            <a:r>
              <a:rPr lang="de-DE" dirty="0" err="1"/>
              <a:t>them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focus</a:t>
            </a:r>
            <a:r>
              <a:rPr lang="de-DE" dirty="0"/>
              <a:t> 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617DFE37-4C2C-0623-FF53-D583EB2120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300" y="1009946"/>
            <a:ext cx="5347851" cy="229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353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CAB0F-6FB9-FAEB-9BCC-CEEBE4A19A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9F91A81D-E946-13EF-5A89-2C037BD10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7369938E-635B-B72A-D91F-4B594F3CDE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1D8C14E6-9B8E-C23A-9AFD-F5D188CA2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70E78651-7A34-8366-4B8C-0F421A6BE5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853C0184-F102-7695-9C19-FE6E468DCB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9EE81E55-D203-8161-D49D-3A5CF57BD07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1D1BA87C-13B6-2FED-1281-227D2C835F4D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6147E01D-8A3D-0B6D-E945-E9D0906A4BC0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2A97AAB4-3681-21ED-0B64-89EC3AC3133C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B4E0D81-47CE-89A2-5859-84AD96D54E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21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92A32177-553D-DF73-4EF4-A6D48456A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AACEC227-DD59-1D5C-7DD8-751E34E4C69D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Case Studies (</a:t>
            </a:r>
            <a:r>
              <a:rPr lang="de-DE" sz="2400" dirty="0" err="1">
                <a:latin typeface="Univers Condensed" panose="020B0506020202050204" pitchFamily="34" charset="0"/>
              </a:rPr>
              <a:t>Unwind</a:t>
            </a:r>
            <a:r>
              <a:rPr lang="de-DE" sz="2400" dirty="0">
                <a:latin typeface="Univers Condensed" panose="020B0506020202050204" pitchFamily="34" charset="0"/>
              </a:rPr>
              <a:t> System)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C1F491B3-4D6D-D398-7C95-E9E4B309D96C}"/>
              </a:ext>
            </a:extLst>
          </p:cNvPr>
          <p:cNvSpPr txBox="1"/>
          <p:nvPr/>
        </p:nvSpPr>
        <p:spPr>
          <a:xfrm>
            <a:off x="838200" y="1663700"/>
            <a:ext cx="587375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Key Results: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Significant reduction in both heart rate and respiration rate in comparison to the control group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70% of participants used the nature sounds to visualize scenes, significantly improving focus and immersion.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F9F214FA-D3C6-B82E-51A9-23F81B8D7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8300" y="1009946"/>
            <a:ext cx="5347851" cy="2298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96148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80642-393A-93F5-1851-DDCB915A9D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222B1D6C-6000-1769-2FFF-6AF4FA6858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3CC19398-84A0-91BA-93FF-E3AA956657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2B4C538C-4744-673A-9B16-44357DCC85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FBF75758-0096-C05C-40EE-412E92D10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FB6E754A-52AA-1936-8CCE-E30258986C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E92FBEC9-631B-900D-17D9-116FCCF0A9CF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2427A5A-C76B-C0C6-2236-784A45D96300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FB086A10-6F96-2450-0015-994343C48846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73A3291A-B697-A750-CF53-0A245C6C8277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6423E85-9E46-4463-8098-4844A7DE1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22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B918D8C-F387-A6DD-7475-D34636AA4A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3610349A-50A0-89FD-1418-DBD182226B2C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Case Studies (</a:t>
            </a:r>
            <a:r>
              <a:rPr lang="de-DE" sz="2400" dirty="0" err="1">
                <a:latin typeface="Univers Condensed" panose="020B0506020202050204" pitchFamily="34" charset="0"/>
              </a:rPr>
              <a:t>Muse</a:t>
            </a:r>
            <a:r>
              <a:rPr lang="de-DE" sz="2400" baseline="30000" dirty="0" err="1">
                <a:latin typeface="Univers Condensed" panose="020B0506020202050204" pitchFamily="34" charset="0"/>
              </a:rPr>
              <a:t>TM</a:t>
            </a:r>
            <a:r>
              <a:rPr lang="de-DE" sz="2400" dirty="0">
                <a:latin typeface="Univers Condensed" panose="020B0506020202050204" pitchFamily="34" charset="0"/>
              </a:rPr>
              <a:t> </a:t>
            </a:r>
            <a:r>
              <a:rPr lang="de-DE" sz="2400" dirty="0" err="1">
                <a:latin typeface="Univers Condensed" panose="020B0506020202050204" pitchFamily="34" charset="0"/>
              </a:rPr>
              <a:t>Headband</a:t>
            </a:r>
            <a:r>
              <a:rPr lang="de-DE" sz="2400" baseline="30000" dirty="0">
                <a:latin typeface="Univers Condensed" panose="020B0506020202050204" pitchFamily="34" charset="0"/>
              </a:rPr>
              <a:t> </a:t>
            </a:r>
            <a:r>
              <a:rPr lang="de-DE" sz="2400" dirty="0">
                <a:latin typeface="Univers Condensed" panose="020B0506020202050204" pitchFamily="34" charset="0"/>
              </a:rPr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BC74B363-C734-B52E-7B03-C02499665FFA}"/>
              </a:ext>
            </a:extLst>
          </p:cNvPr>
          <p:cNvSpPr txBox="1"/>
          <p:nvPr/>
        </p:nvSpPr>
        <p:spPr>
          <a:xfrm>
            <a:off x="838200" y="1663700"/>
            <a:ext cx="6883400" cy="387798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concept</a:t>
            </a:r>
            <a:r>
              <a:rPr lang="de-DE" dirty="0"/>
              <a:t>: </a:t>
            </a:r>
            <a:r>
              <a:rPr lang="de-DE" dirty="0" err="1"/>
              <a:t>Lowering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entry</a:t>
            </a:r>
            <a:r>
              <a:rPr lang="de-DE" dirty="0"/>
              <a:t> </a:t>
            </a:r>
            <a:r>
              <a:rPr lang="de-DE" dirty="0" err="1"/>
              <a:t>barrier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meditation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real-time EEG / HRV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Study Design: </a:t>
            </a:r>
            <a:r>
              <a:rPr lang="de-DE" dirty="0" err="1"/>
              <a:t>Comparison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an experimental </a:t>
            </a:r>
            <a:r>
              <a:rPr lang="de-DE" dirty="0" err="1"/>
              <a:t>group</a:t>
            </a:r>
            <a:r>
              <a:rPr lang="de-DE" dirty="0"/>
              <a:t> and a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group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Daily </a:t>
            </a:r>
            <a:r>
              <a:rPr lang="de-DE" dirty="0" err="1"/>
              <a:t>attention</a:t>
            </a:r>
            <a:r>
              <a:rPr lang="de-DE" dirty="0"/>
              <a:t> </a:t>
            </a:r>
            <a:r>
              <a:rPr lang="de-DE" dirty="0" err="1"/>
              <a:t>training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through</a:t>
            </a:r>
            <a:r>
              <a:rPr lang="de-DE" dirty="0"/>
              <a:t> </a:t>
            </a:r>
            <a:r>
              <a:rPr lang="de-DE" dirty="0" err="1"/>
              <a:t>smartphone</a:t>
            </a:r>
            <a:r>
              <a:rPr lang="de-DE" dirty="0"/>
              <a:t> </a:t>
            </a:r>
            <a:r>
              <a:rPr lang="de-DE" dirty="0" err="1"/>
              <a:t>app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baseline="30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Key </a:t>
            </a:r>
            <a:r>
              <a:rPr lang="de-DE" dirty="0" err="1"/>
              <a:t>Findings</a:t>
            </a:r>
            <a:r>
              <a:rPr lang="de-DE" dirty="0"/>
              <a:t>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Stress </a:t>
            </a:r>
            <a:r>
              <a:rPr lang="de-DE" dirty="0" err="1"/>
              <a:t>Reduction</a:t>
            </a:r>
            <a:r>
              <a:rPr lang="de-DE" dirty="0"/>
              <a:t>: The </a:t>
            </a:r>
            <a:r>
              <a:rPr lang="de-DE" dirty="0" err="1"/>
              <a:t>experimenal</a:t>
            </a:r>
            <a:r>
              <a:rPr lang="de-DE" dirty="0"/>
              <a:t> </a:t>
            </a:r>
            <a:r>
              <a:rPr lang="de-DE" dirty="0" err="1"/>
              <a:t>group</a:t>
            </a:r>
            <a:r>
              <a:rPr lang="de-DE" dirty="0"/>
              <a:t> </a:t>
            </a:r>
            <a:r>
              <a:rPr lang="de-DE" dirty="0" err="1"/>
              <a:t>recorded</a:t>
            </a:r>
            <a:r>
              <a:rPr lang="de-DE" dirty="0"/>
              <a:t> a 7% </a:t>
            </a:r>
            <a:r>
              <a:rPr lang="de-DE" dirty="0" err="1"/>
              <a:t>decrease</a:t>
            </a:r>
            <a:r>
              <a:rPr lang="de-DE" dirty="0"/>
              <a:t> after 2 </a:t>
            </a:r>
            <a:r>
              <a:rPr lang="de-DE" dirty="0" err="1"/>
              <a:t>weeks</a:t>
            </a:r>
            <a:r>
              <a:rPr lang="de-DE" dirty="0"/>
              <a:t> 14% after 4 </a:t>
            </a:r>
            <a:r>
              <a:rPr lang="de-DE" dirty="0" err="1"/>
              <a:t>weeks</a:t>
            </a:r>
            <a:r>
              <a:rPr lang="de-DE" dirty="0"/>
              <a:t>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Mental Performance: </a:t>
            </a:r>
            <a:r>
              <a:rPr lang="de-DE" dirty="0" err="1"/>
              <a:t>Improved</a:t>
            </a:r>
            <a:r>
              <a:rPr lang="de-DE" dirty="0"/>
              <a:t> </a:t>
            </a:r>
            <a:r>
              <a:rPr lang="de-DE" dirty="0" err="1"/>
              <a:t>concentration</a:t>
            </a:r>
            <a:r>
              <a:rPr lang="de-DE" dirty="0"/>
              <a:t> </a:t>
            </a:r>
            <a:r>
              <a:rPr lang="de-DE" dirty="0" err="1"/>
              <a:t>levels</a:t>
            </a:r>
            <a:r>
              <a:rPr lang="de-DE" dirty="0"/>
              <a:t> and superior </a:t>
            </a:r>
            <a:r>
              <a:rPr lang="de-DE" dirty="0" err="1"/>
              <a:t>impulse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during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</a:t>
            </a:r>
            <a:r>
              <a:rPr lang="de-DE" dirty="0" err="1"/>
              <a:t>tasks</a:t>
            </a:r>
            <a:endParaRPr lang="de-DE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/>
              <a:t>Control Group: </a:t>
            </a:r>
            <a:r>
              <a:rPr lang="de-DE" dirty="0" err="1"/>
              <a:t>Showed</a:t>
            </a:r>
            <a:r>
              <a:rPr lang="de-DE" dirty="0"/>
              <a:t> 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significant</a:t>
            </a:r>
            <a:r>
              <a:rPr lang="de-DE" dirty="0"/>
              <a:t> </a:t>
            </a:r>
            <a:r>
              <a:rPr lang="de-DE" dirty="0" err="1"/>
              <a:t>changes</a:t>
            </a:r>
            <a:r>
              <a:rPr lang="de-DE" dirty="0"/>
              <a:t> in stress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performance</a:t>
            </a:r>
            <a:r>
              <a:rPr lang="de-DE" dirty="0"/>
              <a:t> </a:t>
            </a:r>
            <a:r>
              <a:rPr lang="de-DE" dirty="0" err="1"/>
              <a:t>levels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Real-time </a:t>
            </a:r>
            <a:r>
              <a:rPr lang="de-DE" dirty="0" err="1"/>
              <a:t>feedback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decisive</a:t>
            </a:r>
            <a:r>
              <a:rPr lang="de-DE" dirty="0"/>
              <a:t> </a:t>
            </a:r>
            <a:r>
              <a:rPr lang="de-DE" dirty="0" err="1"/>
              <a:t>factor</a:t>
            </a:r>
            <a:endParaRPr lang="de-DE" dirty="0"/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8C3D510A-9E29-1197-8BA8-F429258819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70900" y="840478"/>
            <a:ext cx="3829584" cy="2695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1943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385CF8-7079-5E04-2849-5FD63D5C5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3F61FE14-EE4B-9733-29A1-C98E290FD5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C806A71-4F69-81D8-FD8F-EDD5BD477D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34652906-EB45-5CE9-F4F8-0F39BD0119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AF7DF286-D5A8-76F3-73AC-D8ABFDA35E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419523AF-8980-DE84-E8A1-119B7F07CD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5045C7BA-C181-D020-1841-E442F70830DE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484A3E69-2DFF-F47D-8D39-ADBF8F89851D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5EA51AF2-7112-7283-4675-229A50A85C1A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B74C3813-9BA9-7684-8F7B-D2DB1E9E63B8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3F50B6D-19CB-7DE9-3EE6-1F444C07E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23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67879BCA-631B-BEAE-C8EE-9E01C311AF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13CDCA8D-C5E8-8A14-D001-13F37BC52DFD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latin typeface="Univers Condensed" panose="020B0506020202050204" pitchFamily="34" charset="0"/>
              </a:rPr>
              <a:t>Conclusion</a:t>
            </a:r>
            <a:r>
              <a:rPr lang="de-DE" sz="2400" dirty="0">
                <a:latin typeface="Univers Condensed" panose="020B0506020202050204" pitchFamily="34" charset="0"/>
              </a:rPr>
              <a:t> 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EC7B300E-EC9D-26FB-C6A7-F0CD1FA9BAF9}"/>
              </a:ext>
            </a:extLst>
          </p:cNvPr>
          <p:cNvSpPr txBox="1"/>
          <p:nvPr/>
        </p:nvSpPr>
        <p:spPr>
          <a:xfrm>
            <a:off x="838200" y="1682750"/>
            <a:ext cx="6959600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Core Metric: Heart Rate Variability (HRV)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HRV provides significantly deeper physiological insights than simple Heart Rate (BPM)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Technical Strategy: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Efficiency: Utilizing a 3D Mesh to track cheeks as the primary Region of interest for signal stability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Algorithm: Choosing CHROM for its computational efficiency and real-time capabilities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Competitive Edge: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Unlike Blind Source Separation, CHROM requires shorter observation windows and effectively identifies the correct color channels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Superior to Deep Learning: CHROM is robust against noise without the massive resource intensity or dataset bias of AI models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D388530D-B49D-7590-EFAD-2AE00D1FE7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1980" y="-191678"/>
            <a:ext cx="3903044" cy="552138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B932F607-745E-CC2B-DFAD-B2B47221454D}"/>
              </a:ext>
            </a:extLst>
          </p:cNvPr>
          <p:cNvSpPr txBox="1"/>
          <p:nvPr/>
        </p:nvSpPr>
        <p:spPr>
          <a:xfrm>
            <a:off x="8712200" y="4975960"/>
            <a:ext cx="3231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Musical Biofeedback Loop: Real-time </a:t>
            </a:r>
            <a:r>
              <a:rPr lang="de-DE" sz="1400" dirty="0" err="1"/>
              <a:t>translation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physiological</a:t>
            </a:r>
            <a:r>
              <a:rPr lang="de-DE" sz="1400" dirty="0"/>
              <a:t> </a:t>
            </a:r>
            <a:r>
              <a:rPr lang="de-DE" sz="1400" dirty="0" err="1"/>
              <a:t>rPPG</a:t>
            </a:r>
            <a:r>
              <a:rPr lang="de-DE" sz="1400" dirty="0"/>
              <a:t> </a:t>
            </a:r>
            <a:r>
              <a:rPr lang="de-DE" sz="1400" dirty="0" err="1"/>
              <a:t>data</a:t>
            </a:r>
            <a:r>
              <a:rPr lang="de-DE" sz="1400" dirty="0"/>
              <a:t> </a:t>
            </a:r>
            <a:r>
              <a:rPr lang="de-DE" sz="1400" dirty="0" err="1"/>
              <a:t>into</a:t>
            </a:r>
            <a:r>
              <a:rPr lang="de-DE" sz="1400" dirty="0"/>
              <a:t> intuitive </a:t>
            </a:r>
            <a:r>
              <a:rPr lang="de-DE" sz="1400" dirty="0" err="1"/>
              <a:t>musical</a:t>
            </a:r>
            <a:r>
              <a:rPr lang="de-DE" sz="1400" dirty="0"/>
              <a:t> </a:t>
            </a:r>
            <a:r>
              <a:rPr lang="de-DE" sz="1400" dirty="0" err="1"/>
              <a:t>biofeedback</a:t>
            </a:r>
            <a:endParaRPr lang="de-DE" sz="1400" dirty="0"/>
          </a:p>
          <a:p>
            <a:r>
              <a:rPr lang="de-DE" sz="1400" dirty="0"/>
              <a:t>Source: Own </a:t>
            </a:r>
            <a:r>
              <a:rPr lang="de-DE" sz="1400" dirty="0" err="1"/>
              <a:t>illustration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38125250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CC0CC-24F2-0178-A677-8E6FECA18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9A26A6E0-548A-653C-472A-AD48A18C5B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99F048BB-8111-A176-63A8-A14FA8780E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38090512-6403-9B2C-B2A1-D872AE6E9C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>
              <a:lnSpc>
                <a:spcPts val="1425"/>
              </a:lnSpc>
              <a:buNone/>
            </a:pPr>
            <a:endParaRPr lang="de-DE" b="0" u="sng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028100E3-3FBA-F39E-461C-D511BF3FD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60C61AAF-6D3A-F4F9-84D1-E57DA1F153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E822E6A-FB92-0F01-E964-7EF6BC061A02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FF727B9A-064E-BA86-2905-095DAA5BFC20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70D191E-4101-990F-B276-92C2CEBEFABB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66BCA43-2AE4-20A6-32CD-6595D0570DB3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1C2E8DA-DF96-D59D-5AC0-6621E133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24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B39C532A-AA0B-4DE1-60B9-0A9B0BE552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6C5AD9A4-E79F-C493-F367-EB5EAFBC56CD}"/>
              </a:ext>
            </a:extLst>
          </p:cNvPr>
          <p:cNvSpPr txBox="1"/>
          <p:nvPr/>
        </p:nvSpPr>
        <p:spPr>
          <a:xfrm>
            <a:off x="800100" y="923028"/>
            <a:ext cx="81216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 err="1">
                <a:latin typeface="Univers Condensed" panose="020B0506020202050204" pitchFamily="34" charset="0"/>
              </a:rPr>
              <a:t>Discussion</a:t>
            </a:r>
            <a:r>
              <a:rPr lang="de-DE" sz="2400" dirty="0">
                <a:latin typeface="Univers Condensed" panose="020B0506020202050204" pitchFamily="34" charset="0"/>
              </a:rPr>
              <a:t> (final </a:t>
            </a:r>
            <a:r>
              <a:rPr lang="de-DE" sz="2400" dirty="0" err="1">
                <a:latin typeface="Univers Condensed" panose="020B0506020202050204" pitchFamily="34" charset="0"/>
              </a:rPr>
              <a:t>argumentation</a:t>
            </a:r>
            <a:r>
              <a:rPr lang="de-DE" sz="2400" dirty="0">
                <a:latin typeface="Univers Condensed" panose="020B0506020202050204" pitchFamily="34" charset="0"/>
              </a:rPr>
              <a:t>)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D5F8AF0D-810F-84BA-D6D2-C9EA02C257C3}"/>
              </a:ext>
            </a:extLst>
          </p:cNvPr>
          <p:cNvSpPr txBox="1"/>
          <p:nvPr/>
        </p:nvSpPr>
        <p:spPr>
          <a:xfrm>
            <a:off x="838200" y="1682750"/>
            <a:ext cx="6807200" cy="72943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 </a:t>
            </a:r>
            <a:r>
              <a:rPr lang="de-DE" dirty="0" err="1"/>
              <a:t>mapping</a:t>
            </a:r>
            <a:r>
              <a:rPr lang="de-DE" dirty="0"/>
              <a:t> </a:t>
            </a:r>
            <a:r>
              <a:rPr lang="de-DE" dirty="0" err="1"/>
              <a:t>Process</a:t>
            </a:r>
            <a:r>
              <a:rPr lang="de-DE" dirty="0"/>
              <a:t>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de-DE" dirty="0" err="1"/>
              <a:t>Continuous</a:t>
            </a:r>
            <a:r>
              <a:rPr lang="de-DE" dirty="0"/>
              <a:t> Mapping: </a:t>
            </a:r>
            <a:r>
              <a:rPr lang="en-US" dirty="0"/>
              <a:t>Essential for real-time feedback. The auditory stream must reflect the physiological state instantly and fluidly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Sound Design: Low stress states must be mirrored by calm, non-intrusive soundscapes to reinforce the relaxation response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Evidence-Based Systems: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Unwind System:</a:t>
            </a:r>
            <a:r>
              <a:rPr lang="en-US" dirty="0"/>
              <a:t> Demonstrates how </a:t>
            </a:r>
            <a:r>
              <a:rPr lang="en-US" b="1" dirty="0"/>
              <a:t>nature soundscapes</a:t>
            </a:r>
            <a:r>
              <a:rPr lang="en-US" dirty="0"/>
              <a:t> (e.g., wind) provide intuitive Biofeedback.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b="1" dirty="0"/>
              <a:t>Muse™ Headband:</a:t>
            </a:r>
            <a:r>
              <a:rPr lang="en-US" dirty="0"/>
              <a:t> Proves that </a:t>
            </a:r>
            <a:r>
              <a:rPr lang="en-US" b="1" dirty="0"/>
              <a:t>real-time feedback</a:t>
            </a:r>
            <a:r>
              <a:rPr lang="en-US" dirty="0"/>
              <a:t> is the key to increasing conscious awareness and mitigating stress effectively.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Scientific Verification: Any sonification strategy must be </a:t>
            </a:r>
            <a:r>
              <a:rPr lang="en-US" b="1" dirty="0"/>
              <a:t>clinically validated</a:t>
            </a:r>
            <a:r>
              <a:rPr lang="en-US" dirty="0"/>
              <a:t> to ensure it creates the intended psychological impact rather than causing additional "auditory fatigue."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de-DE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BB60397-A3F0-244B-2A79-6A30558F5C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0156" y="-93813"/>
            <a:ext cx="3903044" cy="5521380"/>
          </a:xfrm>
          <a:prstGeom prst="rect">
            <a:avLst/>
          </a:prstGeom>
        </p:spPr>
      </p:pic>
      <p:sp>
        <p:nvSpPr>
          <p:cNvPr id="11" name="Textfeld 10">
            <a:extLst>
              <a:ext uri="{FF2B5EF4-FFF2-40B4-BE49-F238E27FC236}">
                <a16:creationId xmlns:a16="http://schemas.microsoft.com/office/drawing/2014/main" id="{24193394-9EAC-1168-814D-75DF4093D23F}"/>
              </a:ext>
            </a:extLst>
          </p:cNvPr>
          <p:cNvSpPr txBox="1"/>
          <p:nvPr/>
        </p:nvSpPr>
        <p:spPr>
          <a:xfrm>
            <a:off x="9231758" y="5199882"/>
            <a:ext cx="323151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400" dirty="0"/>
              <a:t>Musical Biofeedback Loop: Real-time </a:t>
            </a:r>
            <a:r>
              <a:rPr lang="de-DE" sz="1400" dirty="0" err="1"/>
              <a:t>translation</a:t>
            </a:r>
            <a:r>
              <a:rPr lang="de-DE" sz="1400" dirty="0"/>
              <a:t> </a:t>
            </a:r>
            <a:r>
              <a:rPr lang="de-DE" sz="1400" dirty="0" err="1"/>
              <a:t>of</a:t>
            </a:r>
            <a:r>
              <a:rPr lang="de-DE" sz="1400" dirty="0"/>
              <a:t> </a:t>
            </a:r>
            <a:r>
              <a:rPr lang="de-DE" sz="1400" dirty="0" err="1"/>
              <a:t>physiological</a:t>
            </a:r>
            <a:r>
              <a:rPr lang="de-DE" sz="1400" dirty="0"/>
              <a:t> </a:t>
            </a:r>
            <a:r>
              <a:rPr lang="de-DE" sz="1400" dirty="0" err="1"/>
              <a:t>rPPG</a:t>
            </a:r>
            <a:r>
              <a:rPr lang="de-DE" sz="1400" dirty="0"/>
              <a:t> </a:t>
            </a:r>
            <a:r>
              <a:rPr lang="de-DE" sz="1400" dirty="0" err="1"/>
              <a:t>data</a:t>
            </a:r>
            <a:r>
              <a:rPr lang="de-DE" sz="1400" dirty="0"/>
              <a:t> </a:t>
            </a:r>
            <a:r>
              <a:rPr lang="de-DE" sz="1400" dirty="0" err="1"/>
              <a:t>into</a:t>
            </a:r>
            <a:r>
              <a:rPr lang="de-DE" sz="1400" dirty="0"/>
              <a:t> intuitive </a:t>
            </a:r>
            <a:r>
              <a:rPr lang="de-DE" sz="1400" dirty="0" err="1"/>
              <a:t>musical</a:t>
            </a:r>
            <a:r>
              <a:rPr lang="de-DE" sz="1400" dirty="0"/>
              <a:t> </a:t>
            </a:r>
            <a:r>
              <a:rPr lang="de-DE" sz="1400" dirty="0" err="1"/>
              <a:t>biofeedback</a:t>
            </a:r>
            <a:endParaRPr lang="de-DE" sz="1400" dirty="0"/>
          </a:p>
          <a:p>
            <a:r>
              <a:rPr lang="de-DE" sz="1400" dirty="0"/>
              <a:t>Source: Own </a:t>
            </a:r>
            <a:r>
              <a:rPr lang="de-DE" sz="1400" dirty="0" err="1"/>
              <a:t>illustration</a:t>
            </a:r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7068932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F090BC-855F-E434-C2C8-C606DADFD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2F2059BF-A56B-0659-90BE-DAF712FC65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503537C-B530-29B4-1121-AD94CA8804D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F3521B0E-ACBB-AC50-B868-E56230AB06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976972E6-E84D-6ED3-E05B-2086988DFA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A3A3EC5-09F2-473B-C801-D8C2D869C0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9423A86-5398-D6D7-4304-6EFBD2E0E1B0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59F7A2B-DC69-10A2-2362-09293F9601C0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012F62A-5275-D0A6-D090-A3C4CE081F7C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48C6D42E-4235-9293-4475-355BAB4B24A7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D0E13DB-6B23-F33E-7167-84A3D9787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25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89F9885-FDFC-6D2D-9464-CDF565361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0903C498-A6AC-04B9-AFB4-876EA1E6F33F}"/>
              </a:ext>
            </a:extLst>
          </p:cNvPr>
          <p:cNvSpPr txBox="1"/>
          <p:nvPr/>
        </p:nvSpPr>
        <p:spPr>
          <a:xfrm>
            <a:off x="800100" y="1117600"/>
            <a:ext cx="1040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Future Outlook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F343F486-C7FD-966C-D7D3-623E40FA5D4D}"/>
              </a:ext>
            </a:extLst>
          </p:cNvPr>
          <p:cNvSpPr txBox="1"/>
          <p:nvPr/>
        </p:nvSpPr>
        <p:spPr>
          <a:xfrm>
            <a:off x="838200" y="1701800"/>
            <a:ext cx="10734675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Promising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detecting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heart</a:t>
            </a:r>
            <a:r>
              <a:rPr lang="de-DE" dirty="0"/>
              <a:t> </a:t>
            </a:r>
            <a:r>
              <a:rPr lang="de-DE" dirty="0" err="1"/>
              <a:t>beat</a:t>
            </a:r>
            <a:r>
              <a:rPr lang="de-DE" dirty="0"/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Especially</a:t>
            </a:r>
            <a:r>
              <a:rPr lang="de-DE" dirty="0"/>
              <a:t> in an </a:t>
            </a:r>
            <a:r>
              <a:rPr lang="de-DE" dirty="0" err="1"/>
              <a:t>office</a:t>
            </a:r>
            <a:r>
              <a:rPr lang="de-DE" dirty="0"/>
              <a:t> </a:t>
            </a:r>
            <a:r>
              <a:rPr lang="de-DE" dirty="0" err="1"/>
              <a:t>environment</a:t>
            </a:r>
            <a:r>
              <a:rPr lang="de-DE" dirty="0"/>
              <a:t> (e.G. at </a:t>
            </a:r>
            <a:r>
              <a:rPr lang="de-DE" dirty="0" err="1"/>
              <a:t>work</a:t>
            </a:r>
            <a:r>
              <a:rPr lang="de-DE" dirty="0"/>
              <a:t>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Does</a:t>
            </a:r>
            <a:r>
              <a:rPr lang="de-DE" dirty="0"/>
              <a:t> not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successful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time (</a:t>
            </a:r>
            <a:r>
              <a:rPr lang="de-DE" dirty="0" err="1"/>
              <a:t>Detecting</a:t>
            </a:r>
            <a:r>
              <a:rPr lang="de-DE" dirty="0"/>
              <a:t> an </a:t>
            </a:r>
            <a:r>
              <a:rPr lang="de-DE" dirty="0" err="1"/>
              <a:t>increase</a:t>
            </a:r>
            <a:r>
              <a:rPr lang="de-DE" dirty="0"/>
              <a:t> </a:t>
            </a:r>
            <a:r>
              <a:rPr lang="de-DE" dirty="0" err="1"/>
              <a:t>once</a:t>
            </a:r>
            <a:r>
              <a:rPr lang="de-DE" dirty="0"/>
              <a:t> </a:t>
            </a:r>
            <a:r>
              <a:rPr lang="de-DE" dirty="0" err="1"/>
              <a:t>does</a:t>
            </a:r>
            <a:r>
              <a:rPr lang="de-DE" dirty="0"/>
              <a:t> not </a:t>
            </a:r>
            <a:r>
              <a:rPr lang="de-DE" dirty="0" err="1"/>
              <a:t>have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successful</a:t>
            </a:r>
            <a:r>
              <a:rPr lang="de-DE" dirty="0"/>
              <a:t> all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time)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Research on </a:t>
            </a:r>
            <a:r>
              <a:rPr lang="de-DE" dirty="0" err="1"/>
              <a:t>smaller</a:t>
            </a:r>
            <a:r>
              <a:rPr lang="de-DE" dirty="0"/>
              <a:t> </a:t>
            </a:r>
            <a:r>
              <a:rPr lang="de-DE" dirty="0" err="1"/>
              <a:t>artifical</a:t>
            </a:r>
            <a:r>
              <a:rPr lang="de-DE" dirty="0"/>
              <a:t> </a:t>
            </a:r>
            <a:r>
              <a:rPr lang="de-DE" dirty="0" err="1"/>
              <a:t>intelligence</a:t>
            </a:r>
            <a:r>
              <a:rPr lang="de-DE" dirty="0"/>
              <a:t>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is</a:t>
            </a:r>
            <a:r>
              <a:rPr lang="de-DE" dirty="0"/>
              <a:t> </a:t>
            </a:r>
            <a:r>
              <a:rPr lang="de-DE" dirty="0" err="1"/>
              <a:t>ongoing</a:t>
            </a:r>
            <a:r>
              <a:rPr lang="de-DE" dirty="0"/>
              <a:t> and </a:t>
            </a:r>
            <a:r>
              <a:rPr lang="de-DE" dirty="0" err="1"/>
              <a:t>they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deployed</a:t>
            </a:r>
            <a:r>
              <a:rPr lang="de-DE" dirty="0"/>
              <a:t> in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future</a:t>
            </a:r>
            <a:r>
              <a:rPr lang="de-DE" dirty="0"/>
              <a:t> on </a:t>
            </a:r>
            <a:r>
              <a:rPr lang="de-DE" dirty="0" err="1"/>
              <a:t>office</a:t>
            </a:r>
            <a:r>
              <a:rPr lang="de-DE" dirty="0"/>
              <a:t> </a:t>
            </a:r>
            <a:r>
              <a:rPr lang="de-DE" dirty="0" err="1"/>
              <a:t>devices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Systems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very</a:t>
            </a:r>
            <a:r>
              <a:rPr lang="de-DE" dirty="0"/>
              <a:t> </a:t>
            </a:r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effective</a:t>
            </a:r>
            <a:r>
              <a:rPr lang="de-DE" dirty="0"/>
              <a:t> and </a:t>
            </a:r>
            <a:r>
              <a:rPr lang="de-DE" dirty="0" err="1"/>
              <a:t>can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on a simple digital </a:t>
            </a:r>
            <a:r>
              <a:rPr lang="de-DE" dirty="0" err="1"/>
              <a:t>kamera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 err="1"/>
              <a:t>There</a:t>
            </a:r>
            <a:r>
              <a:rPr lang="de-DE" dirty="0"/>
              <a:t> </a:t>
            </a:r>
            <a:r>
              <a:rPr lang="de-DE" dirty="0" err="1"/>
              <a:t>could</a:t>
            </a:r>
            <a:r>
              <a:rPr lang="de-DE" dirty="0"/>
              <a:t> also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significant</a:t>
            </a:r>
            <a:r>
              <a:rPr lang="de-DE" dirty="0"/>
              <a:t> </a:t>
            </a:r>
            <a:r>
              <a:rPr lang="de-DE" dirty="0" err="1"/>
              <a:t>privacy</a:t>
            </a:r>
            <a:r>
              <a:rPr lang="de-DE" dirty="0"/>
              <a:t> </a:t>
            </a:r>
            <a:r>
              <a:rPr lang="de-DE" dirty="0" err="1"/>
              <a:t>issues</a:t>
            </a:r>
            <a:r>
              <a:rPr lang="de-DE" dirty="0"/>
              <a:t> -&gt; </a:t>
            </a:r>
            <a:r>
              <a:rPr lang="de-DE" dirty="0" err="1"/>
              <a:t>because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collection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personal </a:t>
            </a:r>
            <a:r>
              <a:rPr lang="de-DE" dirty="0" err="1"/>
              <a:t>data</a:t>
            </a:r>
            <a:endParaRPr lang="de-DE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These </a:t>
            </a:r>
            <a:r>
              <a:rPr lang="de-DE" dirty="0" err="1"/>
              <a:t>models</a:t>
            </a:r>
            <a:r>
              <a:rPr lang="de-DE" dirty="0"/>
              <a:t> </a:t>
            </a:r>
            <a:r>
              <a:rPr lang="de-DE" dirty="0" err="1"/>
              <a:t>should</a:t>
            </a:r>
            <a:r>
              <a:rPr lang="de-DE" dirty="0"/>
              <a:t> </a:t>
            </a:r>
            <a:r>
              <a:rPr lang="de-DE" dirty="0" err="1"/>
              <a:t>optimally</a:t>
            </a:r>
            <a:r>
              <a:rPr lang="de-DE" dirty="0"/>
              <a:t> </a:t>
            </a:r>
            <a:r>
              <a:rPr lang="de-DE" dirty="0" err="1"/>
              <a:t>only</a:t>
            </a:r>
            <a:r>
              <a:rPr lang="de-DE" dirty="0"/>
              <a:t> </a:t>
            </a:r>
            <a:r>
              <a:rPr lang="de-DE" dirty="0" err="1"/>
              <a:t>run</a:t>
            </a:r>
            <a:r>
              <a:rPr lang="de-DE" dirty="0"/>
              <a:t> on </a:t>
            </a:r>
            <a:r>
              <a:rPr lang="de-DE" dirty="0" err="1"/>
              <a:t>local</a:t>
            </a:r>
            <a:r>
              <a:rPr lang="de-DE" dirty="0"/>
              <a:t> </a:t>
            </a:r>
            <a:r>
              <a:rPr lang="de-DE" dirty="0" err="1"/>
              <a:t>devices</a:t>
            </a:r>
            <a:r>
              <a:rPr lang="de-DE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61023060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A7D0FE-D3C8-5C20-762F-CE1619A65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DEC633D9-E60D-7871-30A3-3CC89E02A3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507A877E-E6BE-BBD6-D86D-2A631CE28C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9C311818-375A-8C32-E4F1-6427DEC859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4F1B8D68-9A73-AAB8-3AC6-E9618EB50C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06629F9D-E9E4-210D-D36A-3D8D0DF6AD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7190E445-EBFF-1765-E8C0-1C6391A772B4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EA4C2AB2-B7F9-42D7-4623-749F7F9D07F9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476A4F96-007D-E812-E87E-D235AEC19E85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41ABCAA-7D44-CF8A-93EA-64C5387ADF4D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A5314D9-C350-4681-4A62-E19605AA4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26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07BA2AAC-3F84-2D45-1AC3-5A8DB7CEC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681389B9-C625-9F37-D717-18797CF0D2BC}"/>
              </a:ext>
            </a:extLst>
          </p:cNvPr>
          <p:cNvSpPr txBox="1"/>
          <p:nvPr/>
        </p:nvSpPr>
        <p:spPr>
          <a:xfrm>
            <a:off x="800100" y="1098550"/>
            <a:ext cx="104013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400" dirty="0">
                <a:latin typeface="Univers Condensed" panose="020B0506020202050204" pitchFamily="34" charset="0"/>
              </a:rPr>
              <a:t>References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34905C96-C45C-84BD-184A-D6208950BB6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5813165"/>
              </p:ext>
            </p:extLst>
          </p:nvPr>
        </p:nvGraphicFramePr>
        <p:xfrm>
          <a:off x="638174" y="1934861"/>
          <a:ext cx="11249025" cy="3845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826">
                  <a:extLst>
                    <a:ext uri="{9D8B030D-6E8A-4147-A177-3AD203B41FA5}">
                      <a16:colId xmlns:a16="http://schemas.microsoft.com/office/drawing/2014/main" val="1754672563"/>
                    </a:ext>
                  </a:extLst>
                </a:gridCol>
                <a:gridCol w="8331199">
                  <a:extLst>
                    <a:ext uri="{9D8B030D-6E8A-4147-A177-3AD203B41FA5}">
                      <a16:colId xmlns:a16="http://schemas.microsoft.com/office/drawing/2014/main" val="3586888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Identifier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Referenz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750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Mcewen2017neurobiology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B. S. McEwen, “Neurobiological and systemic effects of chronic stress,” Chronic Stress, vol. 1, p. 2470547017692328, 2017.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giggins2013biofeedback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O. M. </a:t>
                      </a:r>
                      <a:r>
                        <a:rPr lang="en-US" dirty="0" err="1"/>
                        <a:t>Giggins</a:t>
                      </a:r>
                      <a:r>
                        <a:rPr lang="en-US" dirty="0"/>
                        <a:t>, U. M. Persson, and B. Caulfield, “Biofeedback in rehabilitation,” Journal of Neuro Engineering and Rehabilitation, vol. 10, no. 1, p. 60, 2013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verkruysse2008remote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W. </a:t>
                      </a:r>
                      <a:r>
                        <a:rPr lang="de-DE" dirty="0" err="1"/>
                        <a:t>Verkruysse</a:t>
                      </a:r>
                      <a:r>
                        <a:rPr lang="de-DE" dirty="0"/>
                        <a:t>, L. O. </a:t>
                      </a:r>
                      <a:r>
                        <a:rPr lang="de-DE" dirty="0" err="1"/>
                        <a:t>Svaasand</a:t>
                      </a:r>
                      <a:r>
                        <a:rPr lang="de-DE" dirty="0"/>
                        <a:t>, and J. S. Nelson, “Remote </a:t>
                      </a:r>
                      <a:r>
                        <a:rPr lang="de-DE" dirty="0" err="1"/>
                        <a:t>plethysmographic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imaging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using</a:t>
                      </a:r>
                      <a:r>
                        <a:rPr lang="de-DE" dirty="0"/>
                        <a:t> ambient light,” </a:t>
                      </a:r>
                      <a:r>
                        <a:rPr lang="de-DE" dirty="0" err="1"/>
                        <a:t>Optics</a:t>
                      </a:r>
                      <a:r>
                        <a:rPr lang="de-DE" dirty="0"/>
                        <a:t> Express, vol. 16,no. 26, pp. 21 466–21 475, 2008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mccorry2007physiology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L. K. McCorry, “Physiology of the autonomic nervous system, ”American Journal of Pharmaceutical Education, vol. 71, no. 4, p. 78,2007.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13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shaffer2017overview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F. Shaffer and J. Ginsberg, “An overview of heart rate variability metrics and norms,” Frontiers in Public Health, vol. 5, p. 258, 2017.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580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0325314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3DB2F-D011-5952-D2DE-3B1EFD3BF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EACDAAB7-5832-05EB-7196-D0D7C24B44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6DCA69B9-D9E0-3F2E-F32B-9F08F6D94D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200E9ACC-0EEC-4BB2-31A2-1BF365F00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2C12F502-3E4A-7A0C-C026-F9418148A9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1914ACFE-2CC6-7587-F29B-C125E5C8E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B59EF5D3-C926-C52F-74FB-455FDC49B98A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B758CBAD-4FBD-787E-83F3-7DFF852F4A2F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19CB86BD-F104-4F05-21B2-FE7DF0C606A8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15293C33-0C04-0B79-7913-ED601006B605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0E587F2-48C7-5468-57FA-8A88F58B8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27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A82BFDE9-A13A-510C-4270-F9A93816D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E178409B-68B3-9D7B-90B8-B07D9A4CB9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057980"/>
              </p:ext>
            </p:extLst>
          </p:nvPr>
        </p:nvGraphicFramePr>
        <p:xfrm>
          <a:off x="542924" y="915592"/>
          <a:ext cx="11249025" cy="4577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826">
                  <a:extLst>
                    <a:ext uri="{9D8B030D-6E8A-4147-A177-3AD203B41FA5}">
                      <a16:colId xmlns:a16="http://schemas.microsoft.com/office/drawing/2014/main" val="1754672563"/>
                    </a:ext>
                  </a:extLst>
                </a:gridCol>
                <a:gridCol w="8331199">
                  <a:extLst>
                    <a:ext uri="{9D8B030D-6E8A-4147-A177-3AD203B41FA5}">
                      <a16:colId xmlns:a16="http://schemas.microsoft.com/office/drawing/2014/main" val="3586888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Identifier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Referenz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75094"/>
                  </a:ext>
                </a:extLst>
              </a:tr>
              <a:tr h="1570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dehaan2013chrom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U. Debnath and S. Kim, “A comprehensive review of heartrate measurement using remote photoplethysmography and deep learning,” </a:t>
                      </a:r>
                      <a:r>
                        <a:rPr lang="en-US" dirty="0" err="1"/>
                        <a:t>BioMedical</a:t>
                      </a:r>
                      <a:r>
                        <a:rPr lang="en-US" dirty="0"/>
                        <a:t> Engineering </a:t>
                      </a:r>
                      <a:r>
                        <a:rPr lang="en-US" dirty="0" err="1"/>
                        <a:t>OnLine</a:t>
                      </a:r>
                      <a:r>
                        <a:rPr lang="en-US" dirty="0"/>
                        <a:t>, vol. 24, no. 1, p. 73, 2025.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dosovitskiy2021an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A. </a:t>
                      </a:r>
                      <a:r>
                        <a:rPr lang="de-DE" dirty="0" err="1"/>
                        <a:t>Dosovitskiy</a:t>
                      </a:r>
                      <a:r>
                        <a:rPr lang="de-DE" dirty="0"/>
                        <a:t>, L. Beyer, A. Kolesnikov, D. </a:t>
                      </a:r>
                      <a:r>
                        <a:rPr lang="de-DE" dirty="0" err="1"/>
                        <a:t>Weissenborn,X</a:t>
                      </a:r>
                      <a:r>
                        <a:rPr lang="de-DE" dirty="0"/>
                        <a:t>. </a:t>
                      </a:r>
                      <a:r>
                        <a:rPr lang="de-DE" dirty="0" err="1"/>
                        <a:t>Zhai</a:t>
                      </a:r>
                      <a:r>
                        <a:rPr lang="de-DE" dirty="0"/>
                        <a:t>, T. </a:t>
                      </a:r>
                      <a:r>
                        <a:rPr lang="de-DE" dirty="0" err="1"/>
                        <a:t>Unterthiner</a:t>
                      </a:r>
                      <a:r>
                        <a:rPr lang="de-DE" dirty="0"/>
                        <a:t>, M. </a:t>
                      </a:r>
                      <a:r>
                        <a:rPr lang="de-DE" dirty="0" err="1"/>
                        <a:t>Dehghani</a:t>
                      </a:r>
                      <a:r>
                        <a:rPr lang="de-DE" dirty="0"/>
                        <a:t>, M. Minderer, G. </a:t>
                      </a:r>
                      <a:r>
                        <a:rPr lang="de-DE" dirty="0" err="1"/>
                        <a:t>Heigold,S</a:t>
                      </a:r>
                      <a:r>
                        <a:rPr lang="de-DE" dirty="0"/>
                        <a:t>. </a:t>
                      </a:r>
                      <a:r>
                        <a:rPr lang="de-DE" dirty="0" err="1"/>
                        <a:t>Gelly</a:t>
                      </a:r>
                      <a:r>
                        <a:rPr lang="de-DE" dirty="0"/>
                        <a:t> et al., “An </a:t>
                      </a:r>
                      <a:r>
                        <a:rPr lang="de-DE" dirty="0" err="1"/>
                        <a:t>image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is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worth</a:t>
                      </a:r>
                      <a:r>
                        <a:rPr lang="de-DE" dirty="0"/>
                        <a:t> 16x16 </a:t>
                      </a:r>
                      <a:r>
                        <a:rPr lang="de-DE" dirty="0" err="1"/>
                        <a:t>words</a:t>
                      </a:r>
                      <a:r>
                        <a:rPr lang="de-DE" dirty="0"/>
                        <a:t>: </a:t>
                      </a:r>
                      <a:r>
                        <a:rPr lang="de-DE" dirty="0" err="1"/>
                        <a:t>Transformersfor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image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recognition</a:t>
                      </a:r>
                      <a:r>
                        <a:rPr lang="de-DE" dirty="0"/>
                        <a:t> at </a:t>
                      </a:r>
                      <a:r>
                        <a:rPr lang="de-DE" dirty="0" err="1"/>
                        <a:t>scale</a:t>
                      </a:r>
                      <a:r>
                        <a:rPr lang="de-DE" dirty="0"/>
                        <a:t>,” in International Conference on Learning </a:t>
                      </a:r>
                      <a:r>
                        <a:rPr lang="de-DE" dirty="0" err="1"/>
                        <a:t>Representations</a:t>
                      </a:r>
                      <a:r>
                        <a:rPr lang="de-DE" dirty="0"/>
                        <a:t> (ICLR), 2021. [Online]. </a:t>
                      </a:r>
                      <a:r>
                        <a:rPr lang="de-DE" dirty="0" err="1"/>
                        <a:t>Available</a:t>
                      </a:r>
                      <a:r>
                        <a:rPr lang="de-DE" dirty="0"/>
                        <a:t>: https://arxiv.org/abs/2010.11929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lehrer2014heart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P. M. Lehrer and R. Gevirtz, “Heart rate variability </a:t>
                      </a:r>
                      <a:r>
                        <a:rPr lang="en-US" dirty="0" err="1"/>
                        <a:t>biofeedback:how</a:t>
                      </a:r>
                      <a:r>
                        <a:rPr lang="en-US" dirty="0"/>
                        <a:t> and why does it work?” Frontiers in Psychology, vol. 5, p. 756,2014.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bishop2004mindfulness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S. R. Bishop, M. Lau, S. Shapiro, L. Carlson, N. D. </a:t>
                      </a:r>
                      <a:r>
                        <a:rPr lang="de-DE" dirty="0" err="1"/>
                        <a:t>Anderson,J</a:t>
                      </a:r>
                      <a:r>
                        <a:rPr lang="de-DE" dirty="0"/>
                        <a:t>. </a:t>
                      </a:r>
                      <a:r>
                        <a:rPr lang="de-DE" dirty="0" err="1"/>
                        <a:t>Carmody</a:t>
                      </a:r>
                      <a:r>
                        <a:rPr lang="de-DE" dirty="0"/>
                        <a:t>, Z. V. Segal, S. Abbey, M. </a:t>
                      </a:r>
                      <a:r>
                        <a:rPr lang="de-DE" dirty="0" err="1"/>
                        <a:t>Speca</a:t>
                      </a:r>
                      <a:r>
                        <a:rPr lang="de-DE" dirty="0"/>
                        <a:t>, D. </a:t>
                      </a:r>
                      <a:r>
                        <a:rPr lang="de-DE" dirty="0" err="1"/>
                        <a:t>Velting</a:t>
                      </a:r>
                      <a:r>
                        <a:rPr lang="de-DE" dirty="0"/>
                        <a:t> et al., “</a:t>
                      </a:r>
                      <a:r>
                        <a:rPr lang="de-DE" dirty="0" err="1"/>
                        <a:t>Mindfulness</a:t>
                      </a:r>
                      <a:r>
                        <a:rPr lang="de-DE" dirty="0"/>
                        <a:t>: A </a:t>
                      </a:r>
                      <a:r>
                        <a:rPr lang="de-DE" dirty="0" err="1"/>
                        <a:t>proposed</a:t>
                      </a:r>
                      <a:r>
                        <a:rPr lang="de-DE" dirty="0"/>
                        <a:t> operational </a:t>
                      </a:r>
                      <a:r>
                        <a:rPr lang="de-DE" dirty="0" err="1"/>
                        <a:t>definition</a:t>
                      </a:r>
                      <a:r>
                        <a:rPr lang="de-DE" dirty="0"/>
                        <a:t>,” Clinical </a:t>
                      </a:r>
                      <a:r>
                        <a:rPr lang="de-DE" dirty="0" err="1"/>
                        <a:t>Psychology:Science</a:t>
                      </a:r>
                      <a:r>
                        <a:rPr lang="de-DE" dirty="0"/>
                        <a:t> and Practice, vol. 11, 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. 3, pp. 230–241, 2004.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13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7979639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A9575E-8A71-3DF4-A20B-7D9DE01FE1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8C48748B-192F-7AB7-FD40-28179B6E17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DA7254F-3A55-A082-5E5D-08A70B4BB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BE6EE4BB-A04F-992A-57C8-CEE36F5D4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2E020772-176F-02F3-5243-040D7D0C93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773B0413-A59F-9B11-1521-F648AC5033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31100AD9-DB81-BCE1-9195-0D6682454F91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6C1166A-3B90-BFDB-449D-CD36E677BB7F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61334BB-0B71-5DF4-B036-1B569BC2E8DA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AED8DBC6-C0C2-10DB-27D5-2E5531B2510B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6433BEB-ED30-1C10-7487-47531564E5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28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6152D66-ABDD-7B7E-AF40-9636070EC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942D47BB-8819-1F94-34D0-1295F9D60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0803079"/>
              </p:ext>
            </p:extLst>
          </p:nvPr>
        </p:nvGraphicFramePr>
        <p:xfrm>
          <a:off x="542924" y="915592"/>
          <a:ext cx="11249025" cy="494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826">
                  <a:extLst>
                    <a:ext uri="{9D8B030D-6E8A-4147-A177-3AD203B41FA5}">
                      <a16:colId xmlns:a16="http://schemas.microsoft.com/office/drawing/2014/main" val="1754672563"/>
                    </a:ext>
                  </a:extLst>
                </a:gridCol>
                <a:gridCol w="8331199">
                  <a:extLst>
                    <a:ext uri="{9D8B030D-6E8A-4147-A177-3AD203B41FA5}">
                      <a16:colId xmlns:a16="http://schemas.microsoft.com/office/drawing/2014/main" val="3586888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Identifier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Referenz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75094"/>
                  </a:ext>
                </a:extLst>
              </a:tr>
              <a:tr h="1570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app7121280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M. Balconi, D. Crivelli, G. Fronda, and I. Venturella, “Conscious, pre-conscious and unconscious mechanisms in emotional </a:t>
                      </a:r>
                      <a:r>
                        <a:rPr lang="en-US" dirty="0" err="1"/>
                        <a:t>behaviour</a:t>
                      </a:r>
                      <a:r>
                        <a:rPr lang="en-US" dirty="0"/>
                        <a:t>. some applications to the mindfulness approach </a:t>
                      </a:r>
                      <a:r>
                        <a:rPr lang="en-US" dirty="0" err="1"/>
                        <a:t>withwearable</a:t>
                      </a:r>
                      <a:r>
                        <a:rPr lang="en-US" dirty="0"/>
                        <a:t> devices,” Applied Sciences, vol. 7, no. 12, 2017. [Online].Available: https://www.mdpi.com/2076-3417/7/12/1280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yu2018unwind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 B. </a:t>
                      </a:r>
                      <a:r>
                        <a:rPr lang="de-DE" dirty="0" err="1"/>
                        <a:t>Yu</a:t>
                      </a:r>
                      <a:r>
                        <a:rPr lang="de-DE" dirty="0"/>
                        <a:t>, M. Funk, J. Hu, and L. </a:t>
                      </a:r>
                      <a:r>
                        <a:rPr lang="de-DE" dirty="0" err="1"/>
                        <a:t>Feijs</a:t>
                      </a:r>
                      <a:r>
                        <a:rPr lang="de-DE" dirty="0"/>
                        <a:t>, “</a:t>
                      </a:r>
                      <a:r>
                        <a:rPr lang="de-DE" dirty="0" err="1"/>
                        <a:t>Unwind</a:t>
                      </a:r>
                      <a:r>
                        <a:rPr lang="de-DE" dirty="0"/>
                        <a:t>: a </a:t>
                      </a:r>
                      <a:r>
                        <a:rPr lang="de-DE" dirty="0" err="1"/>
                        <a:t>musical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biofeedback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for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relaxation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assistance</a:t>
                      </a:r>
                      <a:r>
                        <a:rPr lang="de-DE" dirty="0"/>
                        <a:t>,” </a:t>
                      </a:r>
                      <a:r>
                        <a:rPr lang="de-DE" dirty="0" err="1"/>
                        <a:t>Behaviour</a:t>
                      </a:r>
                      <a:r>
                        <a:rPr lang="de-DE" dirty="0"/>
                        <a:t> &amp; Information Technology, vol. 37, 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. 8, pp. 800–814, 2018. [Online]. </a:t>
                      </a:r>
                      <a:r>
                        <a:rPr lang="de-DE" dirty="0" err="1"/>
                        <a:t>Available</a:t>
                      </a:r>
                      <a:r>
                        <a:rPr lang="de-DE" dirty="0"/>
                        <a:t>: https://doi.org/10.1080/0144929X.2018.1484515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dubus2013systematic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G. Dubus and R. Bresin, “A systematic review of mapping strategies for the sonification of physical quantities,” </a:t>
                      </a:r>
                      <a:r>
                        <a:rPr lang="en-US" dirty="0" err="1"/>
                        <a:t>PLoS</a:t>
                      </a:r>
                      <a:r>
                        <a:rPr lang="en-US" dirty="0"/>
                        <a:t> ONE, vol. 8,no. 12, p. e82491, 2013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walker2000psychophysical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B. N. Walker, G. Kramer, and D. M. Lane, “Psychophysical scaling of sonification mappings,” in Proceedings of the International Conference on Auditory Display (ICAD 2000), 2000, pp. 1–6.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13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poh2010non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M.-Z. Poh, D. J. McDuff, and R. W. Picard, “Non-contact, au-</a:t>
                      </a:r>
                      <a:r>
                        <a:rPr lang="en-US" dirty="0" err="1"/>
                        <a:t>tomated</a:t>
                      </a:r>
                      <a:r>
                        <a:rPr lang="en-US" dirty="0"/>
                        <a:t> cardiac pulse measurements using video imaging </a:t>
                      </a:r>
                      <a:r>
                        <a:rPr lang="en-US" dirty="0" err="1"/>
                        <a:t>andblind</a:t>
                      </a:r>
                      <a:r>
                        <a:rPr lang="en-US" dirty="0"/>
                        <a:t> source separation,” Optics Express, vol. 18, no. 10, pp. 10 762–10 774, 2010.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580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126546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56DA4-4BC7-160C-E00C-664F8DFDF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2A7210DA-9405-9955-A3DE-BE8F628415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A910AAB6-606F-AFCD-5FC2-67875CB6151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E5EDC257-E494-1115-64EC-CD04D32EB3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7B232051-50BB-9364-4C91-BE23400D25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C1462708-1DEB-2195-DC9B-2E14C03C859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CAEE1450-0172-FD73-6EE3-07F4D9B31BC6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A098D9A3-385F-40BD-78CA-8C7AF507A9DA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75BC87CD-7F18-BAB2-18D0-2DCDD9CAF7DE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DC4CA7C0-084B-39F9-E5B8-29F62B3E2BE2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FFC619E-603C-95FE-87C4-8F2E80143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29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B18A74A-2892-0925-D9FA-493F782B3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3D97378E-BE95-F381-1B2A-7897DD124E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2207948"/>
              </p:ext>
            </p:extLst>
          </p:nvPr>
        </p:nvGraphicFramePr>
        <p:xfrm>
          <a:off x="542924" y="915592"/>
          <a:ext cx="11249025" cy="4942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17826">
                  <a:extLst>
                    <a:ext uri="{9D8B030D-6E8A-4147-A177-3AD203B41FA5}">
                      <a16:colId xmlns:a16="http://schemas.microsoft.com/office/drawing/2014/main" val="1754672563"/>
                    </a:ext>
                  </a:extLst>
                </a:gridCol>
                <a:gridCol w="8331199">
                  <a:extLst>
                    <a:ext uri="{9D8B030D-6E8A-4147-A177-3AD203B41FA5}">
                      <a16:colId xmlns:a16="http://schemas.microsoft.com/office/drawing/2014/main" val="3586888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Identifier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Referenz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75094"/>
                  </a:ext>
                </a:extLst>
              </a:tr>
              <a:tr h="1570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lempe2013roi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G. Lempe, S. Zaunseder, T. Wirth, S. Eck, and H. Malberg, “Roi </a:t>
                      </a:r>
                      <a:r>
                        <a:rPr lang="de-DE" dirty="0" err="1"/>
                        <a:t>selection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for</a:t>
                      </a:r>
                      <a:r>
                        <a:rPr lang="de-DE" dirty="0"/>
                        <a:t> remote </a:t>
                      </a:r>
                      <a:r>
                        <a:rPr lang="de-DE" dirty="0" err="1"/>
                        <a:t>photoplethysmography</a:t>
                      </a:r>
                      <a:r>
                        <a:rPr lang="de-DE" dirty="0"/>
                        <a:t>,” in 2013 International Conference on Information Technology and </a:t>
                      </a:r>
                      <a:r>
                        <a:rPr lang="de-DE" dirty="0" err="1"/>
                        <a:t>Applications</a:t>
                      </a:r>
                      <a:r>
                        <a:rPr lang="de-DE" dirty="0"/>
                        <a:t> in </a:t>
                      </a:r>
                      <a:r>
                        <a:rPr lang="de-DE" dirty="0" err="1"/>
                        <a:t>Biomedicine</a:t>
                      </a:r>
                      <a:r>
                        <a:rPr lang="de-DE" dirty="0"/>
                        <a:t>(ITAB). IEEE, 2013, pp. 1–4.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li2014remote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X. Li, J. Chen, G. Zhao, and M. </a:t>
                      </a:r>
                      <a:r>
                        <a:rPr lang="de-DE" dirty="0" err="1"/>
                        <a:t>Pietikäinen</a:t>
                      </a:r>
                      <a:r>
                        <a:rPr lang="de-DE" dirty="0"/>
                        <a:t>, “Remote </a:t>
                      </a:r>
                      <a:r>
                        <a:rPr lang="de-DE" dirty="0" err="1"/>
                        <a:t>heart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ratemeasurement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from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face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videos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under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realistic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situations</a:t>
                      </a:r>
                      <a:r>
                        <a:rPr lang="de-DE" dirty="0"/>
                        <a:t>,” </a:t>
                      </a:r>
                      <a:r>
                        <a:rPr lang="de-DE" dirty="0" err="1"/>
                        <a:t>IEEETransactions</a:t>
                      </a:r>
                      <a:r>
                        <a:rPr lang="de-DE" dirty="0"/>
                        <a:t> on Biomedical Engineering, vol. 61, </a:t>
                      </a:r>
                      <a:r>
                        <a:rPr lang="de-DE" dirty="0" err="1"/>
                        <a:t>no</a:t>
                      </a:r>
                      <a:r>
                        <a:rPr lang="de-DE" dirty="0"/>
                        <a:t>. 6, pp. 1505–1513,2014.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kartynnik2019real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Y. </a:t>
                      </a:r>
                      <a:r>
                        <a:rPr lang="de-DE" dirty="0" err="1"/>
                        <a:t>Kartynnik</a:t>
                      </a:r>
                      <a:r>
                        <a:rPr lang="de-DE" dirty="0"/>
                        <a:t>, A. </a:t>
                      </a:r>
                      <a:r>
                        <a:rPr lang="de-DE" dirty="0" err="1"/>
                        <a:t>Ablavatski</a:t>
                      </a:r>
                      <a:r>
                        <a:rPr lang="de-DE" dirty="0"/>
                        <a:t>, I. </a:t>
                      </a:r>
                      <a:r>
                        <a:rPr lang="de-DE" dirty="0" err="1"/>
                        <a:t>Grishchenko</a:t>
                      </a:r>
                      <a:r>
                        <a:rPr lang="de-DE" dirty="0"/>
                        <a:t>, and M. </a:t>
                      </a:r>
                      <a:r>
                        <a:rPr lang="de-DE" dirty="0" err="1"/>
                        <a:t>Grundmann,“Real</a:t>
                      </a:r>
                      <a:r>
                        <a:rPr lang="de-DE" dirty="0"/>
                        <a:t>-time </a:t>
                      </a:r>
                      <a:r>
                        <a:rPr lang="de-DE" dirty="0" err="1"/>
                        <a:t>facial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surface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geometry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from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monocular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video</a:t>
                      </a:r>
                      <a:r>
                        <a:rPr lang="de-DE" dirty="0"/>
                        <a:t> on mobile </a:t>
                      </a:r>
                      <a:r>
                        <a:rPr lang="de-DE" dirty="0" err="1"/>
                        <a:t>gpus</a:t>
                      </a:r>
                      <a:r>
                        <a:rPr lang="de-DE" dirty="0"/>
                        <a:t>,” in CVPR Workshop on Analysis and Modeling </a:t>
                      </a:r>
                      <a:r>
                        <a:rPr lang="de-DE" dirty="0" err="1"/>
                        <a:t>ofFaces</a:t>
                      </a:r>
                      <a:r>
                        <a:rPr lang="de-DE" dirty="0"/>
                        <a:t> and </a:t>
                      </a:r>
                      <a:r>
                        <a:rPr lang="de-DE" dirty="0" err="1"/>
                        <a:t>Gestures</a:t>
                      </a:r>
                      <a:r>
                        <a:rPr lang="de-DE" dirty="0"/>
                        <a:t> (AMFG). IEEE, 2019. [Online]. </a:t>
                      </a:r>
                      <a:r>
                        <a:rPr lang="de-DE" dirty="0" err="1"/>
                        <a:t>Available:https</a:t>
                      </a:r>
                      <a:r>
                        <a:rPr lang="de-DE" dirty="0"/>
                        <a:t>://arxiv.org/</a:t>
                      </a:r>
                      <a:r>
                        <a:rPr lang="de-DE" dirty="0" err="1"/>
                        <a:t>abs</a:t>
                      </a:r>
                      <a:r>
                        <a:rPr lang="de-DE" dirty="0"/>
                        <a:t>/1907.06724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pelletier2004effect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C. L. Pelletier, “The effect of music on decreasing arousal due to stress: A meta-analysis,” Journal of Music Therapy, vol. 41, no. 3,pp. 192–214, 2004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13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Debnath25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U. Debnath and S. Kim, “A comprehensive review of heartrate measurement using remote photoplethysmography and deep learning,” </a:t>
                      </a:r>
                      <a:r>
                        <a:rPr lang="en-US" dirty="0" err="1"/>
                        <a:t>BioMedical</a:t>
                      </a:r>
                      <a:r>
                        <a:rPr lang="en-US" dirty="0"/>
                        <a:t> Engineering </a:t>
                      </a:r>
                      <a:r>
                        <a:rPr lang="en-US" dirty="0" err="1"/>
                        <a:t>OnLine</a:t>
                      </a:r>
                      <a:r>
                        <a:rPr lang="en-US" dirty="0"/>
                        <a:t>, vol. 24, no. 1, p. 73, 2025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5800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58853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CAF6A-3199-2032-49E0-495992D01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Straight Connector 8">
            <a:extLst>
              <a:ext uri="{FF2B5EF4-FFF2-40B4-BE49-F238E27FC236}">
                <a16:creationId xmlns:a16="http://schemas.microsoft.com/office/drawing/2014/main" id="{A94703F6-89C7-8377-F289-CA018838A4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10591796" cy="0"/>
          </a:xfrm>
          <a:prstGeom prst="straightConnector1">
            <a:avLst/>
          </a:prstGeom>
          <a:noFill/>
          <a:ln w="44448" cap="flat">
            <a:solidFill>
              <a:srgbClr val="000000"/>
            </a:solidFill>
            <a:prstDash val="solid"/>
            <a:miter/>
          </a:ln>
        </p:spPr>
      </p:cxnSp>
      <p:cxnSp>
        <p:nvCxnSpPr>
          <p:cNvPr id="3" name="Straight Connector 10">
            <a:extLst>
              <a:ext uri="{FF2B5EF4-FFF2-40B4-BE49-F238E27FC236}">
                <a16:creationId xmlns:a16="http://schemas.microsoft.com/office/drawing/2014/main" id="{2592E811-6BB3-7F6F-D927-5AC2521038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2783"/>
            <a:ext cx="10591796" cy="0"/>
          </a:xfrm>
          <a:prstGeom prst="straightConnector1">
            <a:avLst/>
          </a:prstGeom>
          <a:noFill/>
          <a:ln w="12701" cap="flat">
            <a:solidFill>
              <a:srgbClr val="000000"/>
            </a:solidFill>
            <a:prstDash val="solid"/>
            <a:miter/>
          </a:ln>
        </p:spPr>
      </p:cxnSp>
      <p:sp>
        <p:nvSpPr>
          <p:cNvPr id="4" name="Rectangle 12">
            <a:extLst>
              <a:ext uri="{FF2B5EF4-FFF2-40B4-BE49-F238E27FC236}">
                <a16:creationId xmlns:a16="http://schemas.microsoft.com/office/drawing/2014/main" id="{3DB83AA1-9147-2618-9C9C-3CD504BFEB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Move="1" noResize="1"/>
          </p:cNvSpPr>
          <p:nvPr/>
        </p:nvSpPr>
        <p:spPr>
          <a:xfrm>
            <a:off x="0" y="0"/>
            <a:ext cx="12191996" cy="6858000"/>
          </a:xfrm>
          <a:prstGeom prst="rect">
            <a:avLst/>
          </a:pr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ctr" anchorCtr="1" compatLnSpc="1">
            <a:noAutofit/>
          </a:bodyPr>
          <a:lstStyle/>
          <a:p>
            <a:pPr lvl="0" algn="ctr"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dirty="0">
                <a:solidFill>
                  <a:srgbClr val="FFFFFF"/>
                </a:solidFill>
                <a:latin typeface="Calisto MT"/>
              </a:rPr>
              <a:t>https://medium.com/@zurister/depth-wise-convolution-and-depth-wise-separable-convolution-37346565d4ec</a:t>
            </a:r>
            <a:endParaRPr lang="en-US" sz="1800" b="0" i="0" u="none" strike="noStrike" kern="1200" cap="none" spc="0" baseline="0" dirty="0">
              <a:solidFill>
                <a:srgbClr val="FFFFFF"/>
              </a:solidFill>
              <a:uFillTx/>
              <a:latin typeface="Calisto MT"/>
            </a:endParaRPr>
          </a:p>
        </p:txBody>
      </p:sp>
      <p:cxnSp>
        <p:nvCxnSpPr>
          <p:cNvPr id="6" name="Straight Connector 14">
            <a:extLst>
              <a:ext uri="{FF2B5EF4-FFF2-40B4-BE49-F238E27FC236}">
                <a16:creationId xmlns:a16="http://schemas.microsoft.com/office/drawing/2014/main" id="{124AC28A-D8AF-6AC6-402B-C0D62A749A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723903"/>
            <a:ext cx="6583680" cy="0"/>
          </a:xfrm>
          <a:prstGeom prst="straightConnector1">
            <a:avLst/>
          </a:prstGeom>
          <a:ln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Straight Connector 16">
            <a:extLst>
              <a:ext uri="{FF2B5EF4-FFF2-40B4-BE49-F238E27FC236}">
                <a16:creationId xmlns:a16="http://schemas.microsoft.com/office/drawing/2014/main" id="{7F33D5AE-1C3F-5CE5-2DD5-726BD82DC4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Move="1" noResize="1"/>
          </p:cNvCxnSpPr>
          <p:nvPr/>
        </p:nvCxnSpPr>
        <p:spPr>
          <a:xfrm>
            <a:off x="800100" y="6144768"/>
            <a:ext cx="6583680" cy="0"/>
          </a:xfrm>
          <a:prstGeom prst="straightConnector1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Gerader Verbinder 15">
            <a:extLst>
              <a:ext uri="{FF2B5EF4-FFF2-40B4-BE49-F238E27FC236}">
                <a16:creationId xmlns:a16="http://schemas.microsoft.com/office/drawing/2014/main" id="{763F0303-14A3-6F1F-51E5-F63A3C7DE93B}"/>
              </a:ext>
            </a:extLst>
          </p:cNvPr>
          <p:cNvCxnSpPr>
            <a:cxnSpLocks/>
          </p:cNvCxnSpPr>
          <p:nvPr/>
        </p:nvCxnSpPr>
        <p:spPr>
          <a:xfrm>
            <a:off x="800100" y="614278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729E0E12-E136-638A-99E7-4EEFBD9FB4ED}"/>
              </a:ext>
            </a:extLst>
          </p:cNvPr>
          <p:cNvCxnSpPr/>
          <p:nvPr/>
        </p:nvCxnSpPr>
        <p:spPr>
          <a:xfrm>
            <a:off x="7383780" y="723903"/>
            <a:ext cx="108712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Gerader Verbinder 32">
            <a:extLst>
              <a:ext uri="{FF2B5EF4-FFF2-40B4-BE49-F238E27FC236}">
                <a16:creationId xmlns:a16="http://schemas.microsoft.com/office/drawing/2014/main" id="{FD9D878D-3537-E47C-4D8F-C3A09D94E324}"/>
              </a:ext>
            </a:extLst>
          </p:cNvPr>
          <p:cNvCxnSpPr>
            <a:cxnSpLocks/>
          </p:cNvCxnSpPr>
          <p:nvPr/>
        </p:nvCxnSpPr>
        <p:spPr>
          <a:xfrm>
            <a:off x="800100" y="723903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C416071D-00FE-FBD4-E74F-4F48CCEB4BF6}"/>
              </a:ext>
            </a:extLst>
          </p:cNvPr>
          <p:cNvCxnSpPr>
            <a:cxnSpLocks/>
          </p:cNvCxnSpPr>
          <p:nvPr/>
        </p:nvCxnSpPr>
        <p:spPr>
          <a:xfrm>
            <a:off x="800100" y="704011"/>
            <a:ext cx="10734675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E23E9AED-8002-E818-16E6-8C84E17DF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2DAD4-8B56-4CFC-86F2-2DF0F20B40CA}" type="slidenum">
              <a:rPr lang="de-DE" smtClean="0"/>
              <a:t>30</a:t>
            </a:fld>
            <a:endParaRPr lang="de-DE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DA6FD4E8-CB63-AF60-EF79-4FEEC0385A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23.01.2026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197746CE-F2EF-1354-D279-989EC8D8021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7574753"/>
              </p:ext>
            </p:extLst>
          </p:nvPr>
        </p:nvGraphicFramePr>
        <p:xfrm>
          <a:off x="542924" y="915592"/>
          <a:ext cx="11249025" cy="459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6865">
                  <a:extLst>
                    <a:ext uri="{9D8B030D-6E8A-4147-A177-3AD203B41FA5}">
                      <a16:colId xmlns:a16="http://schemas.microsoft.com/office/drawing/2014/main" val="1754672563"/>
                    </a:ext>
                  </a:extLst>
                </a:gridCol>
                <a:gridCol w="8062160">
                  <a:extLst>
                    <a:ext uri="{9D8B030D-6E8A-4147-A177-3AD203B41FA5}">
                      <a16:colId xmlns:a16="http://schemas.microsoft.com/office/drawing/2014/main" val="35868883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/>
                        <a:t>Identifier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Referenz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75094"/>
                  </a:ext>
                </a:extLst>
              </a:tr>
              <a:tr h="15701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pan2009survey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de-DE" sz="1800" b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S. J. Pan and Q. Yang, “A survey on transfer learning,” </a:t>
                      </a:r>
                      <a:r>
                        <a:rPr lang="en-US" dirty="0" err="1"/>
                        <a:t>IEEETransactions</a:t>
                      </a:r>
                      <a:r>
                        <a:rPr lang="en-US" dirty="0"/>
                        <a:t> on Knowledge and Data Engineering, vol. 22, no. 10, pp.1345–1359, 2009.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75453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linnemann2015music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A. Linnemann, B. </a:t>
                      </a:r>
                      <a:r>
                        <a:rPr lang="de-DE" dirty="0" err="1"/>
                        <a:t>Ditzen</a:t>
                      </a:r>
                      <a:r>
                        <a:rPr lang="de-DE" dirty="0"/>
                        <a:t>, J. Strahler, J. M. Doerr, and U. M. </a:t>
                      </a:r>
                      <a:r>
                        <a:rPr lang="de-DE" dirty="0" err="1"/>
                        <a:t>Nater,“Music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listening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as</a:t>
                      </a:r>
                      <a:r>
                        <a:rPr lang="de-DE" dirty="0"/>
                        <a:t> a </a:t>
                      </a:r>
                      <a:r>
                        <a:rPr lang="de-DE" dirty="0" err="1"/>
                        <a:t>means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of</a:t>
                      </a:r>
                      <a:r>
                        <a:rPr lang="de-DE" dirty="0"/>
                        <a:t> stress </a:t>
                      </a:r>
                      <a:r>
                        <a:rPr lang="de-DE" dirty="0" err="1"/>
                        <a:t>reduction</a:t>
                      </a:r>
                      <a:r>
                        <a:rPr lang="de-DE" dirty="0"/>
                        <a:t> in </a:t>
                      </a:r>
                      <a:r>
                        <a:rPr lang="de-DE" dirty="0" err="1"/>
                        <a:t>daily</a:t>
                      </a:r>
                      <a:r>
                        <a:rPr lang="de-DE" dirty="0"/>
                        <a:t> </a:t>
                      </a:r>
                      <a:r>
                        <a:rPr lang="de-DE" dirty="0" err="1"/>
                        <a:t>life</a:t>
                      </a:r>
                      <a:r>
                        <a:rPr lang="de-DE" dirty="0"/>
                        <a:t>,”</a:t>
                      </a:r>
                      <a:r>
                        <a:rPr lang="de-DE" dirty="0" err="1"/>
                        <a:t>Psychoneuroendocrinology</a:t>
                      </a:r>
                      <a:r>
                        <a:rPr lang="de-DE" dirty="0"/>
                        <a:t>, vol. 60, pp. 66–71, 2015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8057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sz="18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bernardi2006cardiovascular</a:t>
                      </a:r>
                    </a:p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L. Bernardi, C. Porta, and P. Sleight, “Cardiovascular, </a:t>
                      </a:r>
                      <a:r>
                        <a:rPr lang="en-US" dirty="0" err="1"/>
                        <a:t>cerebrovas-cular</a:t>
                      </a:r>
                      <a:r>
                        <a:rPr lang="en-US" dirty="0"/>
                        <a:t>, and respiratory changes induced by different types of music in musicians and non-musicians: the importance of silence,” </a:t>
                      </a:r>
                      <a:r>
                        <a:rPr lang="en-US" dirty="0" err="1"/>
                        <a:t>Heart,vol</a:t>
                      </a:r>
                      <a:r>
                        <a:rPr lang="en-US" dirty="0"/>
                        <a:t>. 92, no. 4, pp. 445–452, 2006.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98311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991327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75800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17512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01847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603356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3231</Words>
  <Application>Microsoft Office PowerPoint</Application>
  <PresentationFormat>Breitbild</PresentationFormat>
  <Paragraphs>412</Paragraphs>
  <Slides>30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30</vt:i4>
      </vt:variant>
    </vt:vector>
  </HeadingPairs>
  <TitlesOfParts>
    <vt:vector size="38" baseType="lpstr">
      <vt:lpstr>Aptos</vt:lpstr>
      <vt:lpstr>Aptos Display</vt:lpstr>
      <vt:lpstr>Arial</vt:lpstr>
      <vt:lpstr>Calisto MT</vt:lpstr>
      <vt:lpstr>Cambria Math</vt:lpstr>
      <vt:lpstr>Consolas</vt:lpstr>
      <vt:lpstr>Univers Condensed</vt:lpstr>
      <vt:lpstr>Office</vt:lpstr>
      <vt:lpstr>The role of remote Photoplethysmography in Musical Biofeedback Systems for Stress Reduction and Consciousness Regulation</vt:lpstr>
      <vt:lpstr> Structure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Fabian Winkelmann</dc:creator>
  <cp:lastModifiedBy>Fabian Winkelmann</cp:lastModifiedBy>
  <cp:revision>398</cp:revision>
  <dcterms:created xsi:type="dcterms:W3CDTF">2025-05-12T07:03:43Z</dcterms:created>
  <dcterms:modified xsi:type="dcterms:W3CDTF">2026-04-21T11:49:34Z</dcterms:modified>
</cp:coreProperties>
</file>